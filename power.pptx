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4"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1" d="100"/>
          <a:sy n="81" d="100"/>
        </p:scale>
        <p:origin x="101"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112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1749502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2712618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1831215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4576871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0101930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4109883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809805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5656322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411690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124136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5969041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8607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10027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0078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6177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6952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1828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9433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2761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240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smtClean="0"/>
              <a:t>8/8/2025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026072748"/>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1.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5" name="Picture 4" descr="logo.jpg"/>
          <p:cNvPicPr>
            <a:picLocks noChangeAspect="1"/>
          </p:cNvPicPr>
          <p:nvPr/>
        </p:nvPicPr>
        <p:blipFill>
          <a:blip r:embed="rId3"/>
          <a:stretch>
            <a:fillRect/>
          </a:stretch>
        </p:blipFill>
        <p:spPr>
          <a:xfrm>
            <a:off x="13533120" y="7132320"/>
            <a:ext cx="914400" cy="914400"/>
          </a:xfrm>
          <a:prstGeom prst="rect">
            <a:avLst/>
          </a:prstGeom>
        </p:spPr>
      </p:pic>
      <p:pic>
        <p:nvPicPr>
          <p:cNvPr id="2" name="Image 0" descr="preencoded.png"/>
          <p:cNvPicPr>
            <a:picLocks noChangeAspect="1"/>
          </p:cNvPicPr>
          <p:nvPr/>
        </p:nvPicPr>
        <p:blipFill>
          <a:blip r:embed="rId4"/>
          <a:stretch>
            <a:fillRect/>
          </a:stretch>
        </p:blipFill>
        <p:spPr>
          <a:xfrm>
            <a:off x="0" y="0"/>
            <a:ext cx="5486400" cy="8229600"/>
          </a:xfrm>
          <a:prstGeom prst="rect">
            <a:avLst/>
          </a:prstGeom>
        </p:spPr>
      </p:pic>
      <p:sp>
        <p:nvSpPr>
          <p:cNvPr id="3" name="Text 0"/>
          <p:cNvSpPr/>
          <p:nvPr/>
        </p:nvSpPr>
        <p:spPr>
          <a:xfrm>
            <a:off x="6280190" y="1991320"/>
            <a:ext cx="7556421" cy="3543895"/>
          </a:xfrm>
          <a:prstGeom prst="rect">
            <a:avLst/>
          </a:prstGeom>
          <a:noFill/>
          <a:ln/>
        </p:spPr>
        <p:txBody>
          <a:bodyPr wrap="square" lIns="0" tIns="0" rIns="0" bIns="0" rtlCol="0" anchor="t"/>
          <a:lstStyle/>
          <a:p>
            <a:pPr marL="0" indent="0" algn="ctr" rtl="1">
              <a:lnSpc>
                <a:spcPts val="5550"/>
              </a:lnSpc>
              <a:buNone/>
            </a:pPr>
            <a:r>
              <a:rPr lang="en-US" sz="4450" b="1" dirty="0">
                <a:solidFill>
                  <a:srgbClr val="000000"/>
                </a:solidFill>
                <a:latin typeface="Inter Bold" pitchFamily="34" charset="0"/>
                <a:ea typeface="Inter Bold" pitchFamily="34" charset="-122"/>
                <a:cs typeface="Inter Bold" pitchFamily="34" charset="-120"/>
              </a:rPr>
              <a:t>تحليل التغير العمراني في منطقة محرم - بحيرة مريوط (الإسكندرية) بين عامي 2015 و2025 باستخدام نظم المعلومات الجغرافية (GIS)</a:t>
            </a:r>
            <a:endParaRPr lang="en-US" sz="4450" dirty="0"/>
          </a:p>
        </p:txBody>
      </p:sp>
      <p:sp>
        <p:nvSpPr>
          <p:cNvPr id="4" name="Text 1"/>
          <p:cNvSpPr/>
          <p:nvPr/>
        </p:nvSpPr>
        <p:spPr>
          <a:xfrm>
            <a:off x="6280190" y="5875377"/>
            <a:ext cx="7556421" cy="362903"/>
          </a:xfrm>
          <a:prstGeom prst="rect">
            <a:avLst/>
          </a:prstGeom>
          <a:noFill/>
          <a:ln/>
        </p:spPr>
        <p:txBody>
          <a:bodyPr wrap="none" lIns="0" tIns="0" rIns="0" bIns="0" rtlCol="0" anchor="t"/>
          <a:lstStyle/>
          <a:p>
            <a:pPr marL="0" indent="0" algn="ctr" rtl="1">
              <a:lnSpc>
                <a:spcPts val="2850"/>
              </a:lnSpc>
              <a:buNone/>
            </a:pPr>
            <a:r>
              <a:rPr lang="en-US" sz="1750" dirty="0">
                <a:solidFill>
                  <a:srgbClr val="272525"/>
                </a:solidFill>
                <a:latin typeface="Inter" pitchFamily="34" charset="0"/>
                <a:ea typeface="Inter" pitchFamily="34" charset="-122"/>
                <a:cs typeface="Inter" pitchFamily="34" charset="-120"/>
              </a:rPr>
              <a:t>عرض مشروع التخرج: رؤى معمقة حول التوسع الحضري وتأثيراته البيئية.</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16" name="Picture 15" descr="logo.jpg"/>
          <p:cNvPicPr>
            <a:picLocks noChangeAspect="1"/>
          </p:cNvPicPr>
          <p:nvPr/>
        </p:nvPicPr>
        <p:blipFill>
          <a:blip r:embed="rId3"/>
          <a:stretch>
            <a:fillRect/>
          </a:stretch>
        </p:blipFill>
        <p:spPr>
          <a:xfrm>
            <a:off x="13533120" y="7132320"/>
            <a:ext cx="914400" cy="914400"/>
          </a:xfrm>
          <a:prstGeom prst="rect">
            <a:avLst/>
          </a:prstGeom>
        </p:spPr>
      </p:pic>
      <p:sp>
        <p:nvSpPr>
          <p:cNvPr id="2" name="Text 0"/>
          <p:cNvSpPr/>
          <p:nvPr/>
        </p:nvSpPr>
        <p:spPr>
          <a:xfrm>
            <a:off x="4655463" y="2023348"/>
            <a:ext cx="9181148" cy="708779"/>
          </a:xfrm>
          <a:prstGeom prst="rect">
            <a:avLst/>
          </a:prstGeom>
          <a:noFill/>
          <a:ln/>
        </p:spPr>
        <p:txBody>
          <a:bodyPr wrap="none" lIns="0" tIns="0" rIns="0" bIns="0" rtlCol="0" anchor="t"/>
          <a:lstStyle/>
          <a:p>
            <a:pPr marL="0" indent="0" algn="r" rtl="1">
              <a:lnSpc>
                <a:spcPts val="5550"/>
              </a:lnSpc>
              <a:buNone/>
            </a:pPr>
            <a:r>
              <a:rPr lang="en-US" sz="4450" b="1" dirty="0">
                <a:solidFill>
                  <a:srgbClr val="000000"/>
                </a:solidFill>
                <a:latin typeface="Inter Bold" pitchFamily="34" charset="0"/>
                <a:ea typeface="Inter Bold" pitchFamily="34" charset="-122"/>
                <a:cs typeface="Inter Bold" pitchFamily="34" charset="-120"/>
              </a:rPr>
              <a:t>الفكرة وراء المشروع: دراسة التغير العمراني</a:t>
            </a:r>
            <a:endParaRPr lang="en-US" sz="4450" dirty="0"/>
          </a:p>
        </p:txBody>
      </p:sp>
      <p:sp>
        <p:nvSpPr>
          <p:cNvPr id="3" name="Shape 1"/>
          <p:cNvSpPr/>
          <p:nvPr/>
        </p:nvSpPr>
        <p:spPr>
          <a:xfrm>
            <a:off x="793790" y="3185755"/>
            <a:ext cx="13042821" cy="2402324"/>
          </a:xfrm>
          <a:prstGeom prst="roundRect">
            <a:avLst>
              <a:gd name="adj" fmla="val 3966"/>
            </a:avLst>
          </a:prstGeom>
          <a:solidFill>
            <a:srgbClr val="DADBF1"/>
          </a:solidFill>
          <a:ln w="7620">
            <a:solidFill>
              <a:srgbClr val="C0C1D7"/>
            </a:solidFill>
            <a:prstDash val="solid"/>
          </a:ln>
        </p:spPr>
      </p:sp>
      <p:sp>
        <p:nvSpPr>
          <p:cNvPr id="4" name="Shape 2"/>
          <p:cNvSpPr/>
          <p:nvPr/>
        </p:nvSpPr>
        <p:spPr>
          <a:xfrm>
            <a:off x="9486543" y="3193375"/>
            <a:ext cx="4342448" cy="2387084"/>
          </a:xfrm>
          <a:prstGeom prst="roundRect">
            <a:avLst>
              <a:gd name="adj" fmla="val 3991"/>
            </a:avLst>
          </a:prstGeom>
          <a:solidFill>
            <a:srgbClr val="DADBF1"/>
          </a:solidFill>
          <a:ln/>
        </p:spPr>
      </p:sp>
      <p:sp>
        <p:nvSpPr>
          <p:cNvPr id="5" name="Text 3"/>
          <p:cNvSpPr/>
          <p:nvPr/>
        </p:nvSpPr>
        <p:spPr>
          <a:xfrm>
            <a:off x="10766941" y="3420189"/>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مراقبة التوسع الحضري</a:t>
            </a:r>
            <a:endParaRPr lang="en-US" sz="2200" dirty="0"/>
          </a:p>
        </p:txBody>
      </p:sp>
      <p:sp>
        <p:nvSpPr>
          <p:cNvPr id="6" name="Text 4"/>
          <p:cNvSpPr/>
          <p:nvPr/>
        </p:nvSpPr>
        <p:spPr>
          <a:xfrm>
            <a:off x="9713357" y="3910608"/>
            <a:ext cx="3888819" cy="1088708"/>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يهدف المشروع إلى رصد وتحليل التغيرات العمرانية واسعة النطاق في منطقة محرم وبحيرة مريوط.</a:t>
            </a:r>
            <a:endParaRPr lang="en-US" sz="1750" dirty="0"/>
          </a:p>
        </p:txBody>
      </p:sp>
      <p:sp>
        <p:nvSpPr>
          <p:cNvPr id="7" name="Shape 5"/>
          <p:cNvSpPr/>
          <p:nvPr/>
        </p:nvSpPr>
        <p:spPr>
          <a:xfrm>
            <a:off x="5143976" y="3193375"/>
            <a:ext cx="4342567" cy="2387084"/>
          </a:xfrm>
          <a:prstGeom prst="rect">
            <a:avLst/>
          </a:prstGeom>
          <a:solidFill>
            <a:srgbClr val="DADBF1"/>
          </a:solidFill>
          <a:ln/>
        </p:spPr>
      </p:sp>
      <p:sp>
        <p:nvSpPr>
          <p:cNvPr id="8" name="Shape 6"/>
          <p:cNvSpPr/>
          <p:nvPr/>
        </p:nvSpPr>
        <p:spPr>
          <a:xfrm>
            <a:off x="5143976" y="3193375"/>
            <a:ext cx="30480" cy="2387084"/>
          </a:xfrm>
          <a:prstGeom prst="roundRect">
            <a:avLst>
              <a:gd name="adj" fmla="val 312558"/>
            </a:avLst>
          </a:prstGeom>
          <a:solidFill>
            <a:srgbClr val="C0C1D7"/>
          </a:solidFill>
          <a:ln/>
        </p:spPr>
      </p:sp>
      <p:sp>
        <p:nvSpPr>
          <p:cNvPr id="9" name="Text 7"/>
          <p:cNvSpPr/>
          <p:nvPr/>
        </p:nvSpPr>
        <p:spPr>
          <a:xfrm>
            <a:off x="5370790" y="3420189"/>
            <a:ext cx="3888938" cy="708660"/>
          </a:xfrm>
          <a:prstGeom prst="rect">
            <a:avLst/>
          </a:prstGeom>
          <a:noFill/>
          <a:ln/>
        </p:spPr>
        <p:txBody>
          <a:bodyPr wrap="squar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تقنيات نظم المعلومات الجغرافية (GIS)</a:t>
            </a:r>
            <a:endParaRPr lang="en-US" sz="2200" dirty="0"/>
          </a:p>
        </p:txBody>
      </p:sp>
      <p:sp>
        <p:nvSpPr>
          <p:cNvPr id="10" name="Text 8"/>
          <p:cNvSpPr/>
          <p:nvPr/>
        </p:nvSpPr>
        <p:spPr>
          <a:xfrm>
            <a:off x="5370790" y="4264938"/>
            <a:ext cx="3888938" cy="1088708"/>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نستخدم أحدث تقنيات نظم المعلومات الجغرافية وصور الأقمار الصناعية لتقديم رؤية دقيقة للتغير.</a:t>
            </a:r>
            <a:endParaRPr lang="en-US" sz="1750" dirty="0"/>
          </a:p>
        </p:txBody>
      </p:sp>
      <p:sp>
        <p:nvSpPr>
          <p:cNvPr id="11" name="Shape 9"/>
          <p:cNvSpPr/>
          <p:nvPr/>
        </p:nvSpPr>
        <p:spPr>
          <a:xfrm>
            <a:off x="801410" y="3193375"/>
            <a:ext cx="4342567" cy="2387084"/>
          </a:xfrm>
          <a:prstGeom prst="rect">
            <a:avLst/>
          </a:prstGeom>
          <a:solidFill>
            <a:srgbClr val="DADBF1"/>
          </a:solidFill>
          <a:ln/>
        </p:spPr>
      </p:sp>
      <p:sp>
        <p:nvSpPr>
          <p:cNvPr id="12" name="Shape 10"/>
          <p:cNvSpPr/>
          <p:nvPr/>
        </p:nvSpPr>
        <p:spPr>
          <a:xfrm>
            <a:off x="801410" y="3193375"/>
            <a:ext cx="30480" cy="2387084"/>
          </a:xfrm>
          <a:prstGeom prst="roundRect">
            <a:avLst>
              <a:gd name="adj" fmla="val 312558"/>
            </a:avLst>
          </a:prstGeom>
          <a:solidFill>
            <a:srgbClr val="C0C1D7"/>
          </a:solidFill>
          <a:ln/>
        </p:spPr>
      </p:sp>
      <p:sp>
        <p:nvSpPr>
          <p:cNvPr id="13" name="Text 11"/>
          <p:cNvSpPr/>
          <p:nvPr/>
        </p:nvSpPr>
        <p:spPr>
          <a:xfrm>
            <a:off x="2081927" y="3420189"/>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تأثير أعمال الردم</a:t>
            </a:r>
            <a:endParaRPr lang="en-US" sz="2200" dirty="0"/>
          </a:p>
        </p:txBody>
      </p:sp>
      <p:sp>
        <p:nvSpPr>
          <p:cNvPr id="14" name="Text 12"/>
          <p:cNvSpPr/>
          <p:nvPr/>
        </p:nvSpPr>
        <p:spPr>
          <a:xfrm>
            <a:off x="1028224" y="3910608"/>
            <a:ext cx="3888938" cy="1088708"/>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التركيز على فهم أثر أعمال الردم على مساحة البحيرة والمناطق المحيطة بها خلال عقد من الزمان.</a:t>
            </a:r>
            <a:endParaRPr lang="en-US" sz="1750" dirty="0"/>
          </a:p>
        </p:txBody>
      </p:sp>
      <p:sp>
        <p:nvSpPr>
          <p:cNvPr id="15" name="Text 13"/>
          <p:cNvSpPr/>
          <p:nvPr/>
        </p:nvSpPr>
        <p:spPr>
          <a:xfrm>
            <a:off x="793790" y="5843230"/>
            <a:ext cx="13042821" cy="362903"/>
          </a:xfrm>
          <a:prstGeom prst="rect">
            <a:avLst/>
          </a:prstGeom>
          <a:noFill/>
          <a:ln/>
        </p:spPr>
        <p:txBody>
          <a:bodyPr wrap="non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يعد هذا المشروع أساسيًا لفهم ديناميكيات النمو الحضري وتأثيرها على البيئات الطبيعية الحساسة.</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19" name="Picture 18" descr="logo.jpg"/>
          <p:cNvPicPr>
            <a:picLocks noChangeAspect="1"/>
          </p:cNvPicPr>
          <p:nvPr/>
        </p:nvPicPr>
        <p:blipFill>
          <a:blip r:embed="rId3"/>
          <a:stretch>
            <a:fillRect/>
          </a:stretch>
        </p:blipFill>
        <p:spPr>
          <a:xfrm>
            <a:off x="13533120" y="7132320"/>
            <a:ext cx="914400" cy="914400"/>
          </a:xfrm>
          <a:prstGeom prst="rect">
            <a:avLst/>
          </a:prstGeom>
        </p:spPr>
      </p:pic>
      <p:sp>
        <p:nvSpPr>
          <p:cNvPr id="2" name="Text 0"/>
          <p:cNvSpPr/>
          <p:nvPr/>
        </p:nvSpPr>
        <p:spPr>
          <a:xfrm>
            <a:off x="8166021" y="1977033"/>
            <a:ext cx="5670590" cy="708779"/>
          </a:xfrm>
          <a:prstGeom prst="rect">
            <a:avLst/>
          </a:prstGeom>
          <a:noFill/>
          <a:ln/>
        </p:spPr>
        <p:txBody>
          <a:bodyPr wrap="none" lIns="0" tIns="0" rIns="0" bIns="0" rtlCol="0" anchor="t"/>
          <a:lstStyle/>
          <a:p>
            <a:pPr marL="0" indent="0" algn="r" rtl="1">
              <a:lnSpc>
                <a:spcPts val="5550"/>
              </a:lnSpc>
              <a:buNone/>
            </a:pPr>
            <a:r>
              <a:rPr lang="en-US" sz="4450" b="1" dirty="0">
                <a:solidFill>
                  <a:srgbClr val="000000"/>
                </a:solidFill>
                <a:latin typeface="Inter Bold" pitchFamily="34" charset="0"/>
                <a:ea typeface="Inter Bold" pitchFamily="34" charset="-122"/>
                <a:cs typeface="Inter Bold" pitchFamily="34" charset="-120"/>
              </a:rPr>
              <a:t>أهداف المشروع الرئيسية</a:t>
            </a:r>
            <a:endParaRPr lang="en-US" sz="4450" dirty="0"/>
          </a:p>
        </p:txBody>
      </p:sp>
      <p:sp>
        <p:nvSpPr>
          <p:cNvPr id="3" name="Shape 1"/>
          <p:cNvSpPr/>
          <p:nvPr/>
        </p:nvSpPr>
        <p:spPr>
          <a:xfrm>
            <a:off x="13326308" y="3139440"/>
            <a:ext cx="510302" cy="510302"/>
          </a:xfrm>
          <a:prstGeom prst="roundRect">
            <a:avLst>
              <a:gd name="adj" fmla="val 18669"/>
            </a:avLst>
          </a:prstGeom>
          <a:solidFill>
            <a:srgbClr val="DADBF1"/>
          </a:solidFill>
          <a:ln w="7620">
            <a:solidFill>
              <a:srgbClr val="C0C1D7"/>
            </a:solidFill>
            <a:prstDash val="solid"/>
          </a:ln>
        </p:spPr>
      </p:sp>
      <p:sp>
        <p:nvSpPr>
          <p:cNvPr id="4" name="Text 2"/>
          <p:cNvSpPr/>
          <p:nvPr/>
        </p:nvSpPr>
        <p:spPr>
          <a:xfrm>
            <a:off x="13411379" y="3181945"/>
            <a:ext cx="340162" cy="425291"/>
          </a:xfrm>
          <a:prstGeom prst="rect">
            <a:avLst/>
          </a:prstGeom>
          <a:noFill/>
          <a:ln/>
        </p:spPr>
        <p:txBody>
          <a:bodyPr wrap="none" lIns="0" tIns="0" rIns="0" bIns="0" rtlCol="0" anchor="t"/>
          <a:lstStyle/>
          <a:p>
            <a:pPr marL="0" indent="0" algn="ctr" rtl="1">
              <a:lnSpc>
                <a:spcPts val="2650"/>
              </a:lnSpc>
              <a:buNone/>
            </a:pPr>
            <a:r>
              <a:rPr lang="en-US" sz="2650" b="1" dirty="0">
                <a:solidFill>
                  <a:srgbClr val="272525"/>
                </a:solidFill>
                <a:latin typeface="Inter Bold" pitchFamily="34" charset="0"/>
                <a:ea typeface="Inter Bold" pitchFamily="34" charset="-122"/>
                <a:cs typeface="Inter Bold" pitchFamily="34" charset="-120"/>
              </a:rPr>
              <a:t>1</a:t>
            </a:r>
            <a:endParaRPr lang="en-US" sz="2650" dirty="0"/>
          </a:p>
        </p:txBody>
      </p:sp>
      <p:sp>
        <p:nvSpPr>
          <p:cNvPr id="5" name="Text 3"/>
          <p:cNvSpPr/>
          <p:nvPr/>
        </p:nvSpPr>
        <p:spPr>
          <a:xfrm>
            <a:off x="8404265" y="3181945"/>
            <a:ext cx="4695230" cy="425291"/>
          </a:xfrm>
          <a:prstGeom prst="rect">
            <a:avLst/>
          </a:prstGeom>
          <a:noFill/>
          <a:ln/>
        </p:spPr>
        <p:txBody>
          <a:bodyPr wrap="none" lIns="0" tIns="0" rIns="0" bIns="0" rtlCol="0" anchor="t"/>
          <a:lstStyle/>
          <a:p>
            <a:pPr marL="0" indent="0" algn="r" rtl="1">
              <a:lnSpc>
                <a:spcPts val="3300"/>
              </a:lnSpc>
              <a:buNone/>
            </a:pPr>
            <a:r>
              <a:rPr lang="en-US" sz="2650" b="1" dirty="0">
                <a:solidFill>
                  <a:srgbClr val="272525"/>
                </a:solidFill>
                <a:latin typeface="Inter Bold" pitchFamily="34" charset="0"/>
                <a:ea typeface="Inter Bold" pitchFamily="34" charset="-122"/>
                <a:cs typeface="Inter Bold" pitchFamily="34" charset="-120"/>
              </a:rPr>
              <a:t>تحليل التغير الزمني (2015-2025)</a:t>
            </a:r>
            <a:endParaRPr lang="en-US" sz="2650" dirty="0"/>
          </a:p>
        </p:txBody>
      </p:sp>
      <p:sp>
        <p:nvSpPr>
          <p:cNvPr id="6" name="Text 4"/>
          <p:cNvSpPr/>
          <p:nvPr/>
        </p:nvSpPr>
        <p:spPr>
          <a:xfrm>
            <a:off x="7457003" y="3743325"/>
            <a:ext cx="5642491"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دراسة ومقارنة التغيرات في الغطاء الأرضي واستخدامات الأراضي بين الفترتين الزمنيتين.</a:t>
            </a:r>
            <a:endParaRPr lang="en-US" sz="1750" dirty="0"/>
          </a:p>
        </p:txBody>
      </p:sp>
      <p:sp>
        <p:nvSpPr>
          <p:cNvPr id="7" name="Shape 5"/>
          <p:cNvSpPr/>
          <p:nvPr/>
        </p:nvSpPr>
        <p:spPr>
          <a:xfrm>
            <a:off x="6663214" y="3139440"/>
            <a:ext cx="510302" cy="510302"/>
          </a:xfrm>
          <a:prstGeom prst="roundRect">
            <a:avLst>
              <a:gd name="adj" fmla="val 18669"/>
            </a:avLst>
          </a:prstGeom>
          <a:solidFill>
            <a:srgbClr val="DADBF1"/>
          </a:solidFill>
          <a:ln w="7620">
            <a:solidFill>
              <a:srgbClr val="C0C1D7"/>
            </a:solidFill>
            <a:prstDash val="solid"/>
          </a:ln>
        </p:spPr>
      </p:sp>
      <p:sp>
        <p:nvSpPr>
          <p:cNvPr id="8" name="Text 6"/>
          <p:cNvSpPr/>
          <p:nvPr/>
        </p:nvSpPr>
        <p:spPr>
          <a:xfrm>
            <a:off x="6748284" y="3181945"/>
            <a:ext cx="340162" cy="425291"/>
          </a:xfrm>
          <a:prstGeom prst="rect">
            <a:avLst/>
          </a:prstGeom>
          <a:noFill/>
          <a:ln/>
        </p:spPr>
        <p:txBody>
          <a:bodyPr wrap="none" lIns="0" tIns="0" rIns="0" bIns="0" rtlCol="0" anchor="t"/>
          <a:lstStyle/>
          <a:p>
            <a:pPr marL="0" indent="0" algn="ctr" rtl="1">
              <a:lnSpc>
                <a:spcPts val="2650"/>
              </a:lnSpc>
              <a:buNone/>
            </a:pPr>
            <a:r>
              <a:rPr lang="en-US" sz="2650" b="1" dirty="0">
                <a:solidFill>
                  <a:srgbClr val="272525"/>
                </a:solidFill>
                <a:latin typeface="Inter Bold" pitchFamily="34" charset="0"/>
                <a:ea typeface="Inter Bold" pitchFamily="34" charset="-122"/>
                <a:cs typeface="Inter Bold" pitchFamily="34" charset="-120"/>
              </a:rPr>
              <a:t>2</a:t>
            </a:r>
            <a:endParaRPr lang="en-US" sz="2650" dirty="0"/>
          </a:p>
        </p:txBody>
      </p:sp>
      <p:sp>
        <p:nvSpPr>
          <p:cNvPr id="9" name="Text 7"/>
          <p:cNvSpPr/>
          <p:nvPr/>
        </p:nvSpPr>
        <p:spPr>
          <a:xfrm>
            <a:off x="2253377" y="3181945"/>
            <a:ext cx="4183023" cy="425291"/>
          </a:xfrm>
          <a:prstGeom prst="rect">
            <a:avLst/>
          </a:prstGeom>
          <a:noFill/>
          <a:ln/>
        </p:spPr>
        <p:txBody>
          <a:bodyPr wrap="none" lIns="0" tIns="0" rIns="0" bIns="0" rtlCol="0" anchor="t"/>
          <a:lstStyle/>
          <a:p>
            <a:pPr marL="0" indent="0" algn="r" rtl="1">
              <a:lnSpc>
                <a:spcPts val="3300"/>
              </a:lnSpc>
              <a:buNone/>
            </a:pPr>
            <a:r>
              <a:rPr lang="en-US" sz="2650" b="1" dirty="0">
                <a:solidFill>
                  <a:srgbClr val="272525"/>
                </a:solidFill>
                <a:latin typeface="Inter Bold" pitchFamily="34" charset="0"/>
                <a:ea typeface="Inter Bold" pitchFamily="34" charset="-122"/>
                <a:cs typeface="Inter Bold" pitchFamily="34" charset="-120"/>
              </a:rPr>
              <a:t>تحديد أثر الردم على بحيرة مريوط</a:t>
            </a:r>
            <a:endParaRPr lang="en-US" sz="2650" dirty="0"/>
          </a:p>
        </p:txBody>
      </p:sp>
      <p:sp>
        <p:nvSpPr>
          <p:cNvPr id="10" name="Text 8"/>
          <p:cNvSpPr/>
          <p:nvPr/>
        </p:nvSpPr>
        <p:spPr>
          <a:xfrm>
            <a:off x="793790" y="3743325"/>
            <a:ext cx="5642610"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تقييم حجم المساحات المردومة وتأثيرها المباشر على النظام البيئي للبحيرة.</a:t>
            </a:r>
            <a:endParaRPr lang="en-US" sz="1750" dirty="0"/>
          </a:p>
        </p:txBody>
      </p:sp>
      <p:sp>
        <p:nvSpPr>
          <p:cNvPr id="11" name="Shape 9"/>
          <p:cNvSpPr/>
          <p:nvPr/>
        </p:nvSpPr>
        <p:spPr>
          <a:xfrm>
            <a:off x="13326308" y="4922758"/>
            <a:ext cx="510302" cy="510302"/>
          </a:xfrm>
          <a:prstGeom prst="roundRect">
            <a:avLst>
              <a:gd name="adj" fmla="val 18669"/>
            </a:avLst>
          </a:prstGeom>
          <a:solidFill>
            <a:srgbClr val="DADBF1"/>
          </a:solidFill>
          <a:ln w="7620">
            <a:solidFill>
              <a:srgbClr val="C0C1D7"/>
            </a:solidFill>
            <a:prstDash val="solid"/>
          </a:ln>
        </p:spPr>
      </p:sp>
      <p:sp>
        <p:nvSpPr>
          <p:cNvPr id="12" name="Text 10"/>
          <p:cNvSpPr/>
          <p:nvPr/>
        </p:nvSpPr>
        <p:spPr>
          <a:xfrm>
            <a:off x="13411379" y="4965263"/>
            <a:ext cx="340162" cy="425291"/>
          </a:xfrm>
          <a:prstGeom prst="rect">
            <a:avLst/>
          </a:prstGeom>
          <a:noFill/>
          <a:ln/>
        </p:spPr>
        <p:txBody>
          <a:bodyPr wrap="none" lIns="0" tIns="0" rIns="0" bIns="0" rtlCol="0" anchor="t"/>
          <a:lstStyle/>
          <a:p>
            <a:pPr marL="0" indent="0" algn="ctr" rtl="1">
              <a:lnSpc>
                <a:spcPts val="2650"/>
              </a:lnSpc>
              <a:buNone/>
            </a:pPr>
            <a:r>
              <a:rPr lang="en-US" sz="2650" b="1"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3" name="Text 11"/>
          <p:cNvSpPr/>
          <p:nvPr/>
        </p:nvSpPr>
        <p:spPr>
          <a:xfrm>
            <a:off x="9697164" y="4965263"/>
            <a:ext cx="3402330" cy="425291"/>
          </a:xfrm>
          <a:prstGeom prst="rect">
            <a:avLst/>
          </a:prstGeom>
          <a:noFill/>
          <a:ln/>
        </p:spPr>
        <p:txBody>
          <a:bodyPr wrap="none" lIns="0" tIns="0" rIns="0" bIns="0" rtlCol="0" anchor="t"/>
          <a:lstStyle/>
          <a:p>
            <a:pPr marL="0" indent="0" algn="r" rtl="1">
              <a:lnSpc>
                <a:spcPts val="3300"/>
              </a:lnSpc>
              <a:buNone/>
            </a:pPr>
            <a:r>
              <a:rPr lang="en-US" sz="2650" b="1" dirty="0">
                <a:solidFill>
                  <a:srgbClr val="272525"/>
                </a:solidFill>
                <a:latin typeface="Inter Bold" pitchFamily="34" charset="0"/>
                <a:ea typeface="Inter Bold" pitchFamily="34" charset="-122"/>
                <a:cs typeface="Inter Bold" pitchFamily="34" charset="-120"/>
              </a:rPr>
              <a:t>عرض تفاعلي للنتائج</a:t>
            </a:r>
            <a:endParaRPr lang="en-US" sz="2650" dirty="0"/>
          </a:p>
        </p:txBody>
      </p:sp>
      <p:sp>
        <p:nvSpPr>
          <p:cNvPr id="14" name="Text 12"/>
          <p:cNvSpPr/>
          <p:nvPr/>
        </p:nvSpPr>
        <p:spPr>
          <a:xfrm>
            <a:off x="7457003" y="5526643"/>
            <a:ext cx="5642491"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إنشاء منصة ويب تفاعلية لعرض الخرائط والبيانات والتحليلات بشكل يسهل الوصول إليه.</a:t>
            </a:r>
            <a:endParaRPr lang="en-US" sz="1750" dirty="0"/>
          </a:p>
        </p:txBody>
      </p:sp>
      <p:sp>
        <p:nvSpPr>
          <p:cNvPr id="15" name="Shape 13"/>
          <p:cNvSpPr/>
          <p:nvPr/>
        </p:nvSpPr>
        <p:spPr>
          <a:xfrm>
            <a:off x="6663214" y="4922758"/>
            <a:ext cx="510302" cy="510302"/>
          </a:xfrm>
          <a:prstGeom prst="roundRect">
            <a:avLst>
              <a:gd name="adj" fmla="val 18669"/>
            </a:avLst>
          </a:prstGeom>
          <a:solidFill>
            <a:srgbClr val="DADBF1"/>
          </a:solidFill>
          <a:ln w="7620">
            <a:solidFill>
              <a:srgbClr val="C0C1D7"/>
            </a:solidFill>
            <a:prstDash val="solid"/>
          </a:ln>
        </p:spPr>
      </p:sp>
      <p:sp>
        <p:nvSpPr>
          <p:cNvPr id="16" name="Text 14"/>
          <p:cNvSpPr/>
          <p:nvPr/>
        </p:nvSpPr>
        <p:spPr>
          <a:xfrm>
            <a:off x="6748284" y="4965263"/>
            <a:ext cx="340162" cy="425291"/>
          </a:xfrm>
          <a:prstGeom prst="rect">
            <a:avLst/>
          </a:prstGeom>
          <a:noFill/>
          <a:ln/>
        </p:spPr>
        <p:txBody>
          <a:bodyPr wrap="none" lIns="0" tIns="0" rIns="0" bIns="0" rtlCol="0" anchor="t"/>
          <a:lstStyle/>
          <a:p>
            <a:pPr marL="0" indent="0" algn="ctr" rtl="1">
              <a:lnSpc>
                <a:spcPts val="2650"/>
              </a:lnSpc>
              <a:buNone/>
            </a:pPr>
            <a:r>
              <a:rPr lang="en-US" sz="2650" b="1" dirty="0">
                <a:solidFill>
                  <a:srgbClr val="272525"/>
                </a:solidFill>
                <a:latin typeface="Inter Bold" pitchFamily="34" charset="0"/>
                <a:ea typeface="Inter Bold" pitchFamily="34" charset="-122"/>
                <a:cs typeface="Inter Bold" pitchFamily="34" charset="-120"/>
              </a:rPr>
              <a:t>4</a:t>
            </a:r>
            <a:endParaRPr lang="en-US" sz="2650" dirty="0"/>
          </a:p>
        </p:txBody>
      </p:sp>
      <p:sp>
        <p:nvSpPr>
          <p:cNvPr id="17" name="Text 15"/>
          <p:cNvSpPr/>
          <p:nvPr/>
        </p:nvSpPr>
        <p:spPr>
          <a:xfrm>
            <a:off x="1915001" y="4965263"/>
            <a:ext cx="4521398" cy="425291"/>
          </a:xfrm>
          <a:prstGeom prst="rect">
            <a:avLst/>
          </a:prstGeom>
          <a:noFill/>
          <a:ln/>
        </p:spPr>
        <p:txBody>
          <a:bodyPr wrap="none" lIns="0" tIns="0" rIns="0" bIns="0" rtlCol="0" anchor="t"/>
          <a:lstStyle/>
          <a:p>
            <a:pPr marL="0" indent="0" algn="r" rtl="1">
              <a:lnSpc>
                <a:spcPts val="3300"/>
              </a:lnSpc>
              <a:buNone/>
            </a:pPr>
            <a:r>
              <a:rPr lang="en-US" sz="2650" b="1" dirty="0">
                <a:solidFill>
                  <a:srgbClr val="272525"/>
                </a:solidFill>
                <a:latin typeface="Inter Bold" pitchFamily="34" charset="0"/>
                <a:ea typeface="Inter Bold" pitchFamily="34" charset="-122"/>
                <a:cs typeface="Inter Bold" pitchFamily="34" charset="-120"/>
              </a:rPr>
              <a:t>تحليل مفصل لكل منطقة (Zone)</a:t>
            </a:r>
            <a:endParaRPr lang="en-US" sz="2650" dirty="0"/>
          </a:p>
        </p:txBody>
      </p:sp>
      <p:sp>
        <p:nvSpPr>
          <p:cNvPr id="18" name="Text 16"/>
          <p:cNvSpPr/>
          <p:nvPr/>
        </p:nvSpPr>
        <p:spPr>
          <a:xfrm>
            <a:off x="793790" y="5526643"/>
            <a:ext cx="5642610"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تقسيم المنطقة إلى زونات وإجراء تحليل تفصيلي للتغيرات داخل كل منها.</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1" name="Picture 20" descr="logo.jpg"/>
          <p:cNvPicPr>
            <a:picLocks noChangeAspect="1"/>
          </p:cNvPicPr>
          <p:nvPr/>
        </p:nvPicPr>
        <p:blipFill>
          <a:blip r:embed="rId3"/>
          <a:stretch>
            <a:fillRect/>
          </a:stretch>
        </p:blipFill>
        <p:spPr>
          <a:xfrm>
            <a:off x="13533120" y="7132320"/>
            <a:ext cx="914400" cy="914400"/>
          </a:xfrm>
          <a:prstGeom prst="rect">
            <a:avLst/>
          </a:prstGeom>
        </p:spPr>
      </p:pic>
      <p:sp>
        <p:nvSpPr>
          <p:cNvPr id="2" name="Text 0"/>
          <p:cNvSpPr/>
          <p:nvPr/>
        </p:nvSpPr>
        <p:spPr>
          <a:xfrm>
            <a:off x="8685728" y="566976"/>
            <a:ext cx="5223034" cy="644366"/>
          </a:xfrm>
          <a:prstGeom prst="rect">
            <a:avLst/>
          </a:prstGeom>
          <a:noFill/>
          <a:ln/>
        </p:spPr>
        <p:txBody>
          <a:bodyPr wrap="none" lIns="0" tIns="0" rIns="0" bIns="0" rtlCol="0" anchor="t"/>
          <a:lstStyle/>
          <a:p>
            <a:pPr marL="0" indent="0" algn="r" rtl="1">
              <a:lnSpc>
                <a:spcPts val="5050"/>
              </a:lnSpc>
              <a:buNone/>
            </a:pPr>
            <a:r>
              <a:rPr lang="en-US" sz="4050" b="1" dirty="0">
                <a:solidFill>
                  <a:srgbClr val="000000"/>
                </a:solidFill>
                <a:latin typeface="Inter Bold" pitchFamily="34" charset="0"/>
                <a:ea typeface="Inter Bold" pitchFamily="34" charset="-122"/>
                <a:cs typeface="Inter Bold" pitchFamily="34" charset="-120"/>
              </a:rPr>
              <a:t>البيانات التي اعتمدنا عليها</a:t>
            </a:r>
            <a:endParaRPr lang="en-US" sz="4050" dirty="0"/>
          </a:p>
        </p:txBody>
      </p:sp>
      <p:sp>
        <p:nvSpPr>
          <p:cNvPr id="4" name="Shape 1"/>
          <p:cNvSpPr/>
          <p:nvPr/>
        </p:nvSpPr>
        <p:spPr>
          <a:xfrm>
            <a:off x="7574280" y="1752481"/>
            <a:ext cx="6342102" cy="1646039"/>
          </a:xfrm>
          <a:prstGeom prst="roundRect">
            <a:avLst>
              <a:gd name="adj" fmla="val 5262"/>
            </a:avLst>
          </a:prstGeom>
          <a:solidFill>
            <a:srgbClr val="FFFFFF"/>
          </a:solidFill>
          <a:ln w="22860">
            <a:solidFill>
              <a:srgbClr val="C0C1D7"/>
            </a:solidFill>
            <a:prstDash val="solid"/>
          </a:ln>
        </p:spPr>
      </p:sp>
      <p:sp>
        <p:nvSpPr>
          <p:cNvPr id="5" name="Shape 2"/>
          <p:cNvSpPr/>
          <p:nvPr/>
        </p:nvSpPr>
        <p:spPr>
          <a:xfrm>
            <a:off x="13068776" y="1775341"/>
            <a:ext cx="824746" cy="1600319"/>
          </a:xfrm>
          <a:prstGeom prst="roundRect">
            <a:avLst>
              <a:gd name="adj" fmla="val 7175"/>
            </a:avLst>
          </a:prstGeom>
          <a:solidFill>
            <a:srgbClr val="DADBF1"/>
          </a:solidFill>
          <a:ln/>
        </p:spPr>
      </p:sp>
      <p:sp>
        <p:nvSpPr>
          <p:cNvPr id="6" name="Text 3"/>
          <p:cNvSpPr/>
          <p:nvPr/>
        </p:nvSpPr>
        <p:spPr>
          <a:xfrm>
            <a:off x="13322737" y="2382203"/>
            <a:ext cx="309205" cy="386596"/>
          </a:xfrm>
          <a:prstGeom prst="rect">
            <a:avLst/>
          </a:prstGeom>
          <a:noFill/>
          <a:ln/>
        </p:spPr>
        <p:txBody>
          <a:bodyPr wrap="none" lIns="0" tIns="0" rIns="0" bIns="0" rtlCol="0" anchor="t"/>
          <a:lstStyle/>
          <a:p>
            <a:pPr marL="0" indent="0" algn="r" rtl="1">
              <a:lnSpc>
                <a:spcPts val="2400"/>
              </a:lnSpc>
              <a:buNone/>
            </a:pPr>
            <a:r>
              <a:rPr lang="en-US" sz="2400" b="1" dirty="0">
                <a:solidFill>
                  <a:srgbClr val="272525"/>
                </a:solidFill>
                <a:latin typeface="Inter Bold" pitchFamily="34" charset="0"/>
                <a:ea typeface="Inter Bold" pitchFamily="34" charset="-122"/>
                <a:cs typeface="Inter Bold" pitchFamily="34" charset="-120"/>
              </a:rPr>
              <a:t>1</a:t>
            </a:r>
            <a:endParaRPr lang="en-US" sz="2400" dirty="0"/>
          </a:p>
        </p:txBody>
      </p:sp>
      <p:sp>
        <p:nvSpPr>
          <p:cNvPr id="7" name="Text 4"/>
          <p:cNvSpPr/>
          <p:nvPr/>
        </p:nvSpPr>
        <p:spPr>
          <a:xfrm>
            <a:off x="10285095" y="1981438"/>
            <a:ext cx="2577584" cy="322183"/>
          </a:xfrm>
          <a:prstGeom prst="rect">
            <a:avLst/>
          </a:prstGeom>
          <a:noFill/>
          <a:ln/>
        </p:spPr>
        <p:txBody>
          <a:bodyPr wrap="none" lIns="0" tIns="0" rIns="0" bIns="0" rtlCol="0" anchor="t"/>
          <a:lstStyle/>
          <a:p>
            <a:pPr marL="0" indent="0" algn="r" rtl="1">
              <a:lnSpc>
                <a:spcPts val="2500"/>
              </a:lnSpc>
              <a:buNone/>
            </a:pPr>
            <a:r>
              <a:rPr lang="en-US" sz="2000" b="1" dirty="0">
                <a:solidFill>
                  <a:srgbClr val="272525"/>
                </a:solidFill>
                <a:latin typeface="Inter Bold" pitchFamily="34" charset="0"/>
                <a:ea typeface="Inter Bold" pitchFamily="34" charset="-122"/>
                <a:cs typeface="Inter Bold" pitchFamily="34" charset="-120"/>
              </a:rPr>
              <a:t>صور الأقمار الصناعية</a:t>
            </a:r>
            <a:endParaRPr lang="en-US" sz="2000" dirty="0"/>
          </a:p>
        </p:txBody>
      </p:sp>
      <p:sp>
        <p:nvSpPr>
          <p:cNvPr id="8" name="Text 5"/>
          <p:cNvSpPr/>
          <p:nvPr/>
        </p:nvSpPr>
        <p:spPr>
          <a:xfrm>
            <a:off x="7597140" y="2509718"/>
            <a:ext cx="5265539" cy="659844"/>
          </a:xfrm>
          <a:prstGeom prst="rect">
            <a:avLst/>
          </a:prstGeom>
          <a:noFill/>
          <a:ln/>
        </p:spPr>
        <p:txBody>
          <a:bodyPr wrap="square" lIns="0" tIns="0" rIns="0" bIns="0" rtlCol="0" anchor="t"/>
          <a:lstStyle/>
          <a:p>
            <a:pPr marL="0" indent="0" algn="r" rtl="1">
              <a:lnSpc>
                <a:spcPts val="2550"/>
              </a:lnSpc>
              <a:buNone/>
            </a:pPr>
            <a:r>
              <a:rPr lang="en-US" sz="1600" dirty="0">
                <a:solidFill>
                  <a:srgbClr val="272525"/>
                </a:solidFill>
                <a:latin typeface="Inter" pitchFamily="34" charset="0"/>
                <a:ea typeface="Inter" pitchFamily="34" charset="-122"/>
                <a:cs typeface="Inter" pitchFamily="34" charset="-120"/>
              </a:rPr>
              <a:t>تُعد صور الأقمار الصناعية لعامي 2015 و2025 هي المصدر الأساسي لتحديد التغيرات العمرانية.</a:t>
            </a:r>
            <a:endParaRPr lang="en-US" sz="1600" dirty="0"/>
          </a:p>
        </p:txBody>
      </p:sp>
      <p:sp>
        <p:nvSpPr>
          <p:cNvPr id="9" name="Shape 6"/>
          <p:cNvSpPr/>
          <p:nvPr/>
        </p:nvSpPr>
        <p:spPr>
          <a:xfrm>
            <a:off x="7574280" y="3604617"/>
            <a:ext cx="6342102" cy="1646039"/>
          </a:xfrm>
          <a:prstGeom prst="roundRect">
            <a:avLst>
              <a:gd name="adj" fmla="val 5262"/>
            </a:avLst>
          </a:prstGeom>
          <a:solidFill>
            <a:srgbClr val="FFFFFF"/>
          </a:solidFill>
          <a:ln w="22860">
            <a:solidFill>
              <a:srgbClr val="C0C1D7"/>
            </a:solidFill>
            <a:prstDash val="solid"/>
          </a:ln>
        </p:spPr>
      </p:sp>
      <p:sp>
        <p:nvSpPr>
          <p:cNvPr id="10" name="Shape 7"/>
          <p:cNvSpPr/>
          <p:nvPr/>
        </p:nvSpPr>
        <p:spPr>
          <a:xfrm>
            <a:off x="13068776" y="3627477"/>
            <a:ext cx="824746" cy="1600319"/>
          </a:xfrm>
          <a:prstGeom prst="roundRect">
            <a:avLst>
              <a:gd name="adj" fmla="val 7175"/>
            </a:avLst>
          </a:prstGeom>
          <a:solidFill>
            <a:srgbClr val="DADBF1"/>
          </a:solidFill>
          <a:ln/>
        </p:spPr>
      </p:sp>
      <p:sp>
        <p:nvSpPr>
          <p:cNvPr id="11" name="Text 8"/>
          <p:cNvSpPr/>
          <p:nvPr/>
        </p:nvSpPr>
        <p:spPr>
          <a:xfrm>
            <a:off x="13322737" y="4234339"/>
            <a:ext cx="309205" cy="386596"/>
          </a:xfrm>
          <a:prstGeom prst="rect">
            <a:avLst/>
          </a:prstGeom>
          <a:noFill/>
          <a:ln/>
        </p:spPr>
        <p:txBody>
          <a:bodyPr wrap="none" lIns="0" tIns="0" rIns="0" bIns="0" rtlCol="0" anchor="t"/>
          <a:lstStyle/>
          <a:p>
            <a:pPr marL="0" indent="0" algn="r" rtl="1">
              <a:lnSpc>
                <a:spcPts val="2400"/>
              </a:lnSpc>
              <a:buNone/>
            </a:pPr>
            <a:r>
              <a:rPr lang="en-US" sz="2400" b="1" dirty="0">
                <a:solidFill>
                  <a:srgbClr val="272525"/>
                </a:solidFill>
                <a:latin typeface="Inter Bold" pitchFamily="34" charset="0"/>
                <a:ea typeface="Inter Bold" pitchFamily="34" charset="-122"/>
                <a:cs typeface="Inter Bold" pitchFamily="34" charset="-120"/>
              </a:rPr>
              <a:t>2</a:t>
            </a:r>
            <a:endParaRPr lang="en-US" sz="2400" dirty="0"/>
          </a:p>
        </p:txBody>
      </p:sp>
      <p:sp>
        <p:nvSpPr>
          <p:cNvPr id="12" name="Text 9"/>
          <p:cNvSpPr/>
          <p:nvPr/>
        </p:nvSpPr>
        <p:spPr>
          <a:xfrm>
            <a:off x="10285095" y="3833574"/>
            <a:ext cx="2577584" cy="322183"/>
          </a:xfrm>
          <a:prstGeom prst="rect">
            <a:avLst/>
          </a:prstGeom>
          <a:noFill/>
          <a:ln/>
        </p:spPr>
        <p:txBody>
          <a:bodyPr wrap="none" lIns="0" tIns="0" rIns="0" bIns="0" rtlCol="0" anchor="t"/>
          <a:lstStyle/>
          <a:p>
            <a:pPr marL="0" indent="0" algn="r" rtl="1">
              <a:lnSpc>
                <a:spcPts val="2500"/>
              </a:lnSpc>
              <a:buNone/>
            </a:pPr>
            <a:r>
              <a:rPr lang="en-US" sz="2000" b="1" dirty="0">
                <a:solidFill>
                  <a:srgbClr val="272525"/>
                </a:solidFill>
                <a:latin typeface="Inter Bold" pitchFamily="34" charset="0"/>
                <a:ea typeface="Inter Bold" pitchFamily="34" charset="-122"/>
                <a:cs typeface="Inter Bold" pitchFamily="34" charset="-120"/>
              </a:rPr>
              <a:t>ملفات GeoJSON</a:t>
            </a:r>
            <a:endParaRPr lang="en-US" sz="2000" dirty="0"/>
          </a:p>
        </p:txBody>
      </p:sp>
      <p:sp>
        <p:nvSpPr>
          <p:cNvPr id="13" name="Text 10"/>
          <p:cNvSpPr/>
          <p:nvPr/>
        </p:nvSpPr>
        <p:spPr>
          <a:xfrm>
            <a:off x="7597140" y="4361855"/>
            <a:ext cx="5265539" cy="659844"/>
          </a:xfrm>
          <a:prstGeom prst="rect">
            <a:avLst/>
          </a:prstGeom>
          <a:noFill/>
          <a:ln/>
        </p:spPr>
        <p:txBody>
          <a:bodyPr wrap="square" lIns="0" tIns="0" rIns="0" bIns="0" rtlCol="0" anchor="t"/>
          <a:lstStyle/>
          <a:p>
            <a:pPr marL="0" indent="0" algn="r" rtl="1">
              <a:lnSpc>
                <a:spcPts val="2550"/>
              </a:lnSpc>
              <a:buNone/>
            </a:pPr>
            <a:r>
              <a:rPr lang="en-US" sz="1600" dirty="0">
                <a:solidFill>
                  <a:srgbClr val="272525"/>
                </a:solidFill>
                <a:latin typeface="Inter" pitchFamily="34" charset="0"/>
                <a:ea typeface="Inter" pitchFamily="34" charset="-122"/>
                <a:cs typeface="Inter" pitchFamily="34" charset="-120"/>
              </a:rPr>
              <a:t>تضمنت ملفات GeoJSON بيانات دقيقة للزونات والمباني ومناطق المياه وشبكات الطرق.</a:t>
            </a:r>
            <a:endParaRPr lang="en-US" sz="1600" dirty="0"/>
          </a:p>
        </p:txBody>
      </p:sp>
      <p:sp>
        <p:nvSpPr>
          <p:cNvPr id="14" name="Shape 11"/>
          <p:cNvSpPr/>
          <p:nvPr/>
        </p:nvSpPr>
        <p:spPr>
          <a:xfrm>
            <a:off x="7574280" y="5456753"/>
            <a:ext cx="6342102" cy="1646039"/>
          </a:xfrm>
          <a:prstGeom prst="roundRect">
            <a:avLst>
              <a:gd name="adj" fmla="val 5262"/>
            </a:avLst>
          </a:prstGeom>
          <a:solidFill>
            <a:srgbClr val="FFFFFF"/>
          </a:solidFill>
          <a:ln w="22860">
            <a:solidFill>
              <a:srgbClr val="C0C1D7"/>
            </a:solidFill>
            <a:prstDash val="solid"/>
          </a:ln>
        </p:spPr>
      </p:sp>
      <p:sp>
        <p:nvSpPr>
          <p:cNvPr id="15" name="Shape 12"/>
          <p:cNvSpPr/>
          <p:nvPr/>
        </p:nvSpPr>
        <p:spPr>
          <a:xfrm>
            <a:off x="13068776" y="5479613"/>
            <a:ext cx="824746" cy="1600319"/>
          </a:xfrm>
          <a:prstGeom prst="roundRect">
            <a:avLst>
              <a:gd name="adj" fmla="val 7175"/>
            </a:avLst>
          </a:prstGeom>
          <a:solidFill>
            <a:srgbClr val="DADBF1"/>
          </a:solidFill>
          <a:ln/>
        </p:spPr>
      </p:sp>
      <p:sp>
        <p:nvSpPr>
          <p:cNvPr id="16" name="Text 13"/>
          <p:cNvSpPr/>
          <p:nvPr/>
        </p:nvSpPr>
        <p:spPr>
          <a:xfrm>
            <a:off x="13322737" y="6086475"/>
            <a:ext cx="309205" cy="386596"/>
          </a:xfrm>
          <a:prstGeom prst="rect">
            <a:avLst/>
          </a:prstGeom>
          <a:noFill/>
          <a:ln/>
        </p:spPr>
        <p:txBody>
          <a:bodyPr wrap="none" lIns="0" tIns="0" rIns="0" bIns="0" rtlCol="0" anchor="t"/>
          <a:lstStyle/>
          <a:p>
            <a:pPr marL="0" indent="0" algn="r" rtl="1">
              <a:lnSpc>
                <a:spcPts val="2400"/>
              </a:lnSpc>
              <a:buNone/>
            </a:pPr>
            <a:r>
              <a:rPr lang="en-US" sz="2400" b="1" dirty="0">
                <a:solidFill>
                  <a:srgbClr val="272525"/>
                </a:solidFill>
                <a:latin typeface="Inter Bold" pitchFamily="34" charset="0"/>
                <a:ea typeface="Inter Bold" pitchFamily="34" charset="-122"/>
                <a:cs typeface="Inter Bold" pitchFamily="34" charset="-120"/>
              </a:rPr>
              <a:t>3</a:t>
            </a:r>
            <a:endParaRPr lang="en-US" sz="2400" dirty="0"/>
          </a:p>
        </p:txBody>
      </p:sp>
      <p:sp>
        <p:nvSpPr>
          <p:cNvPr id="17" name="Text 14"/>
          <p:cNvSpPr/>
          <p:nvPr/>
        </p:nvSpPr>
        <p:spPr>
          <a:xfrm>
            <a:off x="10285095" y="5685711"/>
            <a:ext cx="2577584" cy="322183"/>
          </a:xfrm>
          <a:prstGeom prst="rect">
            <a:avLst/>
          </a:prstGeom>
          <a:noFill/>
          <a:ln/>
        </p:spPr>
        <p:txBody>
          <a:bodyPr wrap="none" lIns="0" tIns="0" rIns="0" bIns="0" rtlCol="0" anchor="t"/>
          <a:lstStyle/>
          <a:p>
            <a:pPr marL="0" indent="0" algn="r" rtl="1">
              <a:lnSpc>
                <a:spcPts val="2500"/>
              </a:lnSpc>
              <a:buNone/>
            </a:pPr>
            <a:r>
              <a:rPr lang="en-US" sz="2000" b="1" dirty="0">
                <a:solidFill>
                  <a:srgbClr val="272525"/>
                </a:solidFill>
                <a:latin typeface="Inter Bold" pitchFamily="34" charset="0"/>
                <a:ea typeface="Inter Bold" pitchFamily="34" charset="-122"/>
                <a:cs typeface="Inter Bold" pitchFamily="34" charset="-120"/>
              </a:rPr>
              <a:t>ملفات Excel الإحصائية</a:t>
            </a:r>
            <a:endParaRPr lang="en-US" sz="2000" dirty="0"/>
          </a:p>
        </p:txBody>
      </p:sp>
      <p:sp>
        <p:nvSpPr>
          <p:cNvPr id="18" name="Text 15"/>
          <p:cNvSpPr/>
          <p:nvPr/>
        </p:nvSpPr>
        <p:spPr>
          <a:xfrm>
            <a:off x="7597140" y="6213991"/>
            <a:ext cx="5265539" cy="659844"/>
          </a:xfrm>
          <a:prstGeom prst="rect">
            <a:avLst/>
          </a:prstGeom>
          <a:noFill/>
          <a:ln/>
        </p:spPr>
        <p:txBody>
          <a:bodyPr wrap="square" lIns="0" tIns="0" rIns="0" bIns="0" rtlCol="0" anchor="t"/>
          <a:lstStyle/>
          <a:p>
            <a:pPr marL="0" indent="0" algn="r" rtl="1">
              <a:lnSpc>
                <a:spcPts val="2550"/>
              </a:lnSpc>
              <a:buNone/>
            </a:pPr>
            <a:r>
              <a:rPr lang="en-US" sz="1600" dirty="0">
                <a:solidFill>
                  <a:srgbClr val="272525"/>
                </a:solidFill>
                <a:latin typeface="Inter" pitchFamily="34" charset="0"/>
                <a:ea typeface="Inter" pitchFamily="34" charset="-122"/>
                <a:cs typeface="Inter" pitchFamily="34" charset="-120"/>
              </a:rPr>
              <a:t>استخدمت ملفات Excel لتخزين وتحليل الإحصائيات الخاصة بمساحات التغير في الغطاء الأرضي.</a:t>
            </a:r>
            <a:endParaRPr lang="en-US" sz="1600" dirty="0"/>
          </a:p>
        </p:txBody>
      </p:sp>
      <p:pic>
        <p:nvPicPr>
          <p:cNvPr id="20" name="Picture 19" descr="A satellite image of a city">
            <a:extLst>
              <a:ext uri="{FF2B5EF4-FFF2-40B4-BE49-F238E27FC236}">
                <a16:creationId xmlns:a16="http://schemas.microsoft.com/office/drawing/2014/main" id="{8A54545B-C5D7-A75D-1611-451E3A5D2078}"/>
              </a:ext>
            </a:extLst>
          </p:cNvPr>
          <p:cNvPicPr>
            <a:picLocks noChangeAspect="1"/>
          </p:cNvPicPr>
          <p:nvPr/>
        </p:nvPicPr>
        <p:blipFill>
          <a:blip r:embed="rId4"/>
          <a:stretch>
            <a:fillRect/>
          </a:stretch>
        </p:blipFill>
        <p:spPr>
          <a:xfrm>
            <a:off x="551412" y="561750"/>
            <a:ext cx="5558443" cy="70837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15" name="Picture 14" descr="logo.jpg"/>
          <p:cNvPicPr>
            <a:picLocks noChangeAspect="1"/>
          </p:cNvPicPr>
          <p:nvPr/>
        </p:nvPicPr>
        <p:blipFill>
          <a:blip r:embed="rId3"/>
          <a:stretch>
            <a:fillRect/>
          </a:stretch>
        </p:blipFill>
        <p:spPr>
          <a:xfrm>
            <a:off x="13533120" y="7132320"/>
            <a:ext cx="914400" cy="914400"/>
          </a:xfrm>
          <a:prstGeom prst="rect">
            <a:avLst/>
          </a:prstGeom>
        </p:spPr>
      </p:pic>
      <p:sp>
        <p:nvSpPr>
          <p:cNvPr id="2" name="Text 0"/>
          <p:cNvSpPr/>
          <p:nvPr/>
        </p:nvSpPr>
        <p:spPr>
          <a:xfrm>
            <a:off x="7885748" y="2080617"/>
            <a:ext cx="5950863" cy="708779"/>
          </a:xfrm>
          <a:prstGeom prst="rect">
            <a:avLst/>
          </a:prstGeom>
          <a:noFill/>
          <a:ln/>
        </p:spPr>
        <p:txBody>
          <a:bodyPr wrap="none" lIns="0" tIns="0" rIns="0" bIns="0" rtlCol="0" anchor="t"/>
          <a:lstStyle/>
          <a:p>
            <a:pPr marL="0" indent="0" algn="r" rtl="1">
              <a:lnSpc>
                <a:spcPts val="5550"/>
              </a:lnSpc>
              <a:buNone/>
            </a:pPr>
            <a:r>
              <a:rPr lang="en-US" sz="4450" b="1" dirty="0">
                <a:solidFill>
                  <a:srgbClr val="000000"/>
                </a:solidFill>
                <a:latin typeface="Inter Bold" pitchFamily="34" charset="0"/>
                <a:ea typeface="Inter Bold" pitchFamily="34" charset="-122"/>
                <a:cs typeface="Inter Bold" pitchFamily="34" charset="-120"/>
              </a:rPr>
              <a:t>الأدوات التقنية المستخدمة</a:t>
            </a:r>
            <a:endParaRPr lang="en-US" sz="4450" dirty="0"/>
          </a:p>
        </p:txBody>
      </p:sp>
      <p:pic>
        <p:nvPicPr>
          <p:cNvPr id="3" name="Image 0" descr="preencoded.png"/>
          <p:cNvPicPr>
            <a:picLocks noChangeAspect="1"/>
          </p:cNvPicPr>
          <p:nvPr/>
        </p:nvPicPr>
        <p:blipFill>
          <a:blip r:embed="rId4"/>
          <a:stretch>
            <a:fillRect/>
          </a:stretch>
        </p:blipFill>
        <p:spPr>
          <a:xfrm>
            <a:off x="793790" y="3243024"/>
            <a:ext cx="566976" cy="566976"/>
          </a:xfrm>
          <a:prstGeom prst="rect">
            <a:avLst/>
          </a:prstGeom>
        </p:spPr>
      </p:pic>
      <p:sp>
        <p:nvSpPr>
          <p:cNvPr id="4" name="Text 1"/>
          <p:cNvSpPr/>
          <p:nvPr/>
        </p:nvSpPr>
        <p:spPr>
          <a:xfrm>
            <a:off x="1644253" y="337768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ERDAS Imagine</a:t>
            </a:r>
            <a:endParaRPr lang="en-US" sz="2200" dirty="0"/>
          </a:p>
        </p:txBody>
      </p:sp>
      <p:sp>
        <p:nvSpPr>
          <p:cNvPr id="5" name="Text 2"/>
          <p:cNvSpPr/>
          <p:nvPr/>
        </p:nvSpPr>
        <p:spPr>
          <a:xfrm>
            <a:off x="1644253" y="3868103"/>
            <a:ext cx="5529143"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لتصنيف صور الأقمار الصناعية واستخراج معلومات الغطاء الأرضي.</a:t>
            </a:r>
            <a:endParaRPr lang="en-US" sz="1750" dirty="0"/>
          </a:p>
        </p:txBody>
      </p:sp>
      <p:pic>
        <p:nvPicPr>
          <p:cNvPr id="6" name="Image 1" descr="preencoded.png"/>
          <p:cNvPicPr>
            <a:picLocks noChangeAspect="1"/>
          </p:cNvPicPr>
          <p:nvPr/>
        </p:nvPicPr>
        <p:blipFill>
          <a:blip r:embed="rId5"/>
          <a:stretch>
            <a:fillRect/>
          </a:stretch>
        </p:blipFill>
        <p:spPr>
          <a:xfrm>
            <a:off x="7456884" y="3243024"/>
            <a:ext cx="566976" cy="566976"/>
          </a:xfrm>
          <a:prstGeom prst="rect">
            <a:avLst/>
          </a:prstGeom>
        </p:spPr>
      </p:pic>
      <p:sp>
        <p:nvSpPr>
          <p:cNvPr id="7" name="Text 3"/>
          <p:cNvSpPr/>
          <p:nvPr/>
        </p:nvSpPr>
        <p:spPr>
          <a:xfrm>
            <a:off x="8307348" y="337768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ArcGIS Pro</a:t>
            </a:r>
            <a:endParaRPr lang="en-US" sz="2200" dirty="0"/>
          </a:p>
        </p:txBody>
      </p:sp>
      <p:sp>
        <p:nvSpPr>
          <p:cNvPr id="8" name="Text 4"/>
          <p:cNvSpPr/>
          <p:nvPr/>
        </p:nvSpPr>
        <p:spPr>
          <a:xfrm>
            <a:off x="8307348" y="3868103"/>
            <a:ext cx="5529263" cy="362903"/>
          </a:xfrm>
          <a:prstGeom prst="rect">
            <a:avLst/>
          </a:prstGeom>
          <a:noFill/>
          <a:ln/>
        </p:spPr>
        <p:txBody>
          <a:bodyPr wrap="non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لرقمنة البيانات وتحليلها مكانيًا وإنتاج الخرائط النهائية.</a:t>
            </a:r>
            <a:endParaRPr lang="en-US" sz="1750" dirty="0"/>
          </a:p>
        </p:txBody>
      </p:sp>
      <p:pic>
        <p:nvPicPr>
          <p:cNvPr id="9" name="Image 2" descr="preencoded.png"/>
          <p:cNvPicPr>
            <a:picLocks noChangeAspect="1"/>
          </p:cNvPicPr>
          <p:nvPr/>
        </p:nvPicPr>
        <p:blipFill>
          <a:blip r:embed="rId6"/>
          <a:stretch>
            <a:fillRect/>
          </a:stretch>
        </p:blipFill>
        <p:spPr>
          <a:xfrm>
            <a:off x="793790" y="5160883"/>
            <a:ext cx="566976" cy="566976"/>
          </a:xfrm>
          <a:prstGeom prst="rect">
            <a:avLst/>
          </a:prstGeom>
        </p:spPr>
      </p:pic>
      <p:sp>
        <p:nvSpPr>
          <p:cNvPr id="10" name="Text 5"/>
          <p:cNvSpPr/>
          <p:nvPr/>
        </p:nvSpPr>
        <p:spPr>
          <a:xfrm>
            <a:off x="1644253" y="529554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Microsoft Excel</a:t>
            </a:r>
            <a:endParaRPr lang="en-US" sz="2200" dirty="0"/>
          </a:p>
        </p:txBody>
      </p:sp>
      <p:sp>
        <p:nvSpPr>
          <p:cNvPr id="11" name="Text 6"/>
          <p:cNvSpPr/>
          <p:nvPr/>
        </p:nvSpPr>
        <p:spPr>
          <a:xfrm>
            <a:off x="1644253" y="5785961"/>
            <a:ext cx="5529143" cy="362903"/>
          </a:xfrm>
          <a:prstGeom prst="rect">
            <a:avLst/>
          </a:prstGeom>
          <a:noFill/>
          <a:ln/>
        </p:spPr>
        <p:txBody>
          <a:bodyPr wrap="non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لإجراء التحليلات الإحصائية وتلخيص بيانات المساحات والتغير.</a:t>
            </a:r>
            <a:endParaRPr lang="en-US" sz="1750" dirty="0"/>
          </a:p>
        </p:txBody>
      </p:sp>
      <p:pic>
        <p:nvPicPr>
          <p:cNvPr id="12" name="Image 3" descr="preencoded.png"/>
          <p:cNvPicPr>
            <a:picLocks noChangeAspect="1"/>
          </p:cNvPicPr>
          <p:nvPr/>
        </p:nvPicPr>
        <p:blipFill>
          <a:blip r:embed="rId7"/>
          <a:stretch>
            <a:fillRect/>
          </a:stretch>
        </p:blipFill>
        <p:spPr>
          <a:xfrm>
            <a:off x="7456884" y="5160883"/>
            <a:ext cx="566976" cy="566976"/>
          </a:xfrm>
          <a:prstGeom prst="rect">
            <a:avLst/>
          </a:prstGeom>
        </p:spPr>
      </p:pic>
      <p:sp>
        <p:nvSpPr>
          <p:cNvPr id="13" name="Text 7"/>
          <p:cNvSpPr/>
          <p:nvPr/>
        </p:nvSpPr>
        <p:spPr>
          <a:xfrm>
            <a:off x="8307348" y="5295543"/>
            <a:ext cx="412896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Vite + Leaflet + HTML/CSS/JS</a:t>
            </a:r>
            <a:endParaRPr lang="en-US" sz="2200" dirty="0"/>
          </a:p>
        </p:txBody>
      </p:sp>
      <p:sp>
        <p:nvSpPr>
          <p:cNvPr id="14" name="Text 8"/>
          <p:cNvSpPr/>
          <p:nvPr/>
        </p:nvSpPr>
        <p:spPr>
          <a:xfrm>
            <a:off x="8307348" y="5785961"/>
            <a:ext cx="5529263" cy="362903"/>
          </a:xfrm>
          <a:prstGeom prst="rect">
            <a:avLst/>
          </a:prstGeom>
          <a:noFill/>
          <a:ln/>
        </p:spPr>
        <p:txBody>
          <a:bodyPr wrap="non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لتطوير الواجهة الأمامية للموقع التفاعلي وعرض الخرائط.</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3" name="Picture 22" descr="logo.jpg"/>
          <p:cNvPicPr>
            <a:picLocks noChangeAspect="1"/>
          </p:cNvPicPr>
          <p:nvPr/>
        </p:nvPicPr>
        <p:blipFill>
          <a:blip r:embed="rId3"/>
          <a:stretch>
            <a:fillRect/>
          </a:stretch>
        </p:blipFill>
        <p:spPr>
          <a:xfrm>
            <a:off x="13533120" y="7132320"/>
            <a:ext cx="914400" cy="914400"/>
          </a:xfrm>
          <a:prstGeom prst="rect">
            <a:avLst/>
          </a:prstGeom>
        </p:spPr>
      </p:pic>
      <p:sp>
        <p:nvSpPr>
          <p:cNvPr id="2" name="Text 0"/>
          <p:cNvSpPr/>
          <p:nvPr/>
        </p:nvSpPr>
        <p:spPr>
          <a:xfrm>
            <a:off x="7049095" y="1686044"/>
            <a:ext cx="6787515" cy="708779"/>
          </a:xfrm>
          <a:prstGeom prst="rect">
            <a:avLst/>
          </a:prstGeom>
          <a:noFill/>
          <a:ln/>
        </p:spPr>
        <p:txBody>
          <a:bodyPr wrap="none" lIns="0" tIns="0" rIns="0" bIns="0" rtlCol="0" anchor="t"/>
          <a:lstStyle/>
          <a:p>
            <a:pPr marL="0" indent="0" algn="r" rtl="1">
              <a:lnSpc>
                <a:spcPts val="5550"/>
              </a:lnSpc>
              <a:buNone/>
            </a:pPr>
            <a:r>
              <a:rPr lang="en-US" sz="4450" b="1" dirty="0">
                <a:solidFill>
                  <a:srgbClr val="000000"/>
                </a:solidFill>
                <a:latin typeface="Inter Bold" pitchFamily="34" charset="0"/>
                <a:ea typeface="Inter Bold" pitchFamily="34" charset="-122"/>
                <a:cs typeface="Inter Bold" pitchFamily="34" charset="-120"/>
              </a:rPr>
              <a:t>خطوات العمل ومنهجية التنفيذ</a:t>
            </a:r>
            <a:endParaRPr lang="en-US" sz="4450" dirty="0"/>
          </a:p>
        </p:txBody>
      </p:sp>
      <p:sp>
        <p:nvSpPr>
          <p:cNvPr id="3" name="Text 1"/>
          <p:cNvSpPr/>
          <p:nvPr/>
        </p:nvSpPr>
        <p:spPr>
          <a:xfrm>
            <a:off x="13609796" y="2848451"/>
            <a:ext cx="226814" cy="283488"/>
          </a:xfrm>
          <a:prstGeom prst="rect">
            <a:avLst/>
          </a:prstGeom>
          <a:noFill/>
          <a:ln/>
        </p:spPr>
        <p:txBody>
          <a:bodyPr wrap="none" lIns="0" tIns="0" rIns="0" bIns="0" rtlCol="0" anchor="t"/>
          <a:lstStyle/>
          <a:p>
            <a:pPr marL="0" indent="0" algn="l" rtl="1">
              <a:lnSpc>
                <a:spcPts val="2850"/>
              </a:lnSpc>
              <a:buNone/>
            </a:pPr>
            <a:r>
              <a:rPr lang="en-US" sz="1750" dirty="0">
                <a:solidFill>
                  <a:srgbClr val="272525"/>
                </a:solidFill>
                <a:latin typeface="Inter Light" pitchFamily="34" charset="0"/>
                <a:ea typeface="Inter Light" pitchFamily="34" charset="-122"/>
                <a:cs typeface="Inter Light" pitchFamily="34" charset="-120"/>
              </a:rPr>
              <a:t>01</a:t>
            </a:r>
            <a:endParaRPr lang="en-US" sz="1750" dirty="0"/>
          </a:p>
        </p:txBody>
      </p:sp>
      <p:sp>
        <p:nvSpPr>
          <p:cNvPr id="4" name="Shape 2"/>
          <p:cNvSpPr/>
          <p:nvPr/>
        </p:nvSpPr>
        <p:spPr>
          <a:xfrm>
            <a:off x="9640252" y="3203496"/>
            <a:ext cx="4196358" cy="30480"/>
          </a:xfrm>
          <a:prstGeom prst="rect">
            <a:avLst/>
          </a:prstGeom>
          <a:solidFill>
            <a:srgbClr val="4950BC"/>
          </a:solidFill>
          <a:ln/>
        </p:spPr>
      </p:sp>
      <p:sp>
        <p:nvSpPr>
          <p:cNvPr id="5" name="Text 3"/>
          <p:cNvSpPr/>
          <p:nvPr/>
        </p:nvSpPr>
        <p:spPr>
          <a:xfrm>
            <a:off x="11001375" y="3377803"/>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معالجة الصور</a:t>
            </a:r>
            <a:endParaRPr lang="en-US" sz="2200" dirty="0"/>
          </a:p>
        </p:txBody>
      </p:sp>
      <p:sp>
        <p:nvSpPr>
          <p:cNvPr id="6" name="Text 4"/>
          <p:cNvSpPr/>
          <p:nvPr/>
        </p:nvSpPr>
        <p:spPr>
          <a:xfrm>
            <a:off x="9640252" y="3868222"/>
            <a:ext cx="4196358"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تنظيف وتصحيح صور الأقمار الصناعية لضمان الدقة والوضوح.</a:t>
            </a:r>
            <a:endParaRPr lang="en-US" sz="1750" dirty="0"/>
          </a:p>
        </p:txBody>
      </p:sp>
      <p:sp>
        <p:nvSpPr>
          <p:cNvPr id="7" name="Text 5"/>
          <p:cNvSpPr/>
          <p:nvPr/>
        </p:nvSpPr>
        <p:spPr>
          <a:xfrm>
            <a:off x="9186624" y="2848451"/>
            <a:ext cx="226814" cy="283488"/>
          </a:xfrm>
          <a:prstGeom prst="rect">
            <a:avLst/>
          </a:prstGeom>
          <a:noFill/>
          <a:ln/>
        </p:spPr>
        <p:txBody>
          <a:bodyPr wrap="none" lIns="0" tIns="0" rIns="0" bIns="0" rtlCol="0" anchor="t"/>
          <a:lstStyle/>
          <a:p>
            <a:pPr marL="0" indent="0" algn="l" rtl="1">
              <a:lnSpc>
                <a:spcPts val="2850"/>
              </a:lnSpc>
              <a:buNone/>
            </a:pPr>
            <a:r>
              <a:rPr lang="en-US" sz="1750" dirty="0">
                <a:solidFill>
                  <a:srgbClr val="272525"/>
                </a:solidFill>
                <a:latin typeface="Inter Light" pitchFamily="34" charset="0"/>
                <a:ea typeface="Inter Light" pitchFamily="34" charset="-122"/>
                <a:cs typeface="Inter Light" pitchFamily="34" charset="-120"/>
              </a:rPr>
              <a:t>02</a:t>
            </a:r>
            <a:endParaRPr lang="en-US" sz="1750" dirty="0"/>
          </a:p>
        </p:txBody>
      </p:sp>
      <p:sp>
        <p:nvSpPr>
          <p:cNvPr id="8" name="Shape 6"/>
          <p:cNvSpPr/>
          <p:nvPr/>
        </p:nvSpPr>
        <p:spPr>
          <a:xfrm>
            <a:off x="5217081" y="3203496"/>
            <a:ext cx="4196358" cy="30480"/>
          </a:xfrm>
          <a:prstGeom prst="rect">
            <a:avLst/>
          </a:prstGeom>
          <a:solidFill>
            <a:srgbClr val="4950BC"/>
          </a:solidFill>
          <a:ln/>
        </p:spPr>
      </p:sp>
      <p:sp>
        <p:nvSpPr>
          <p:cNvPr id="9" name="Text 7"/>
          <p:cNvSpPr/>
          <p:nvPr/>
        </p:nvSpPr>
        <p:spPr>
          <a:xfrm>
            <a:off x="6578203" y="3377803"/>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تصنيف الغطاء الأرضي</a:t>
            </a:r>
            <a:endParaRPr lang="en-US" sz="2200" dirty="0"/>
          </a:p>
        </p:txBody>
      </p:sp>
      <p:sp>
        <p:nvSpPr>
          <p:cNvPr id="10" name="Text 8"/>
          <p:cNvSpPr/>
          <p:nvPr/>
        </p:nvSpPr>
        <p:spPr>
          <a:xfrm>
            <a:off x="5217081" y="3868222"/>
            <a:ext cx="4196358"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تحديد أنواع الغطاء الأرضي (مباني، مياه، نباتات) باستخدام ERDAS.</a:t>
            </a:r>
            <a:endParaRPr lang="en-US" sz="1750" dirty="0"/>
          </a:p>
        </p:txBody>
      </p:sp>
      <p:sp>
        <p:nvSpPr>
          <p:cNvPr id="11" name="Text 9"/>
          <p:cNvSpPr/>
          <p:nvPr/>
        </p:nvSpPr>
        <p:spPr>
          <a:xfrm>
            <a:off x="4763453" y="2848451"/>
            <a:ext cx="226814" cy="283488"/>
          </a:xfrm>
          <a:prstGeom prst="rect">
            <a:avLst/>
          </a:prstGeom>
          <a:noFill/>
          <a:ln/>
        </p:spPr>
        <p:txBody>
          <a:bodyPr wrap="none" lIns="0" tIns="0" rIns="0" bIns="0" rtlCol="0" anchor="t"/>
          <a:lstStyle/>
          <a:p>
            <a:pPr marL="0" indent="0" algn="l" rtl="1">
              <a:lnSpc>
                <a:spcPts val="2850"/>
              </a:lnSpc>
              <a:buNone/>
            </a:pPr>
            <a:r>
              <a:rPr lang="en-US" sz="1750" dirty="0">
                <a:solidFill>
                  <a:srgbClr val="272525"/>
                </a:solidFill>
                <a:latin typeface="Inter Light" pitchFamily="34" charset="0"/>
                <a:ea typeface="Inter Light" pitchFamily="34" charset="-122"/>
                <a:cs typeface="Inter Light" pitchFamily="34" charset="-120"/>
              </a:rPr>
              <a:t>03</a:t>
            </a:r>
            <a:endParaRPr lang="en-US" sz="1750" dirty="0"/>
          </a:p>
        </p:txBody>
      </p:sp>
      <p:sp>
        <p:nvSpPr>
          <p:cNvPr id="12" name="Shape 10"/>
          <p:cNvSpPr/>
          <p:nvPr/>
        </p:nvSpPr>
        <p:spPr>
          <a:xfrm>
            <a:off x="793909" y="3203496"/>
            <a:ext cx="4196358" cy="30480"/>
          </a:xfrm>
          <a:prstGeom prst="rect">
            <a:avLst/>
          </a:prstGeom>
          <a:solidFill>
            <a:srgbClr val="4950BC"/>
          </a:solidFill>
          <a:ln/>
        </p:spPr>
      </p:sp>
      <p:sp>
        <p:nvSpPr>
          <p:cNvPr id="13" name="Text 11"/>
          <p:cNvSpPr/>
          <p:nvPr/>
        </p:nvSpPr>
        <p:spPr>
          <a:xfrm>
            <a:off x="2155031" y="3377803"/>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رقمنة وتحويل البيانات</a:t>
            </a:r>
            <a:endParaRPr lang="en-US" sz="2200" dirty="0"/>
          </a:p>
        </p:txBody>
      </p:sp>
      <p:sp>
        <p:nvSpPr>
          <p:cNvPr id="14" name="Text 12"/>
          <p:cNvSpPr/>
          <p:nvPr/>
        </p:nvSpPr>
        <p:spPr>
          <a:xfrm>
            <a:off x="793909" y="3868222"/>
            <a:ext cx="4196358"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تحويل البيانات المصنفة إلى صيغ رقمية (GeoJSON) لسهولة التحليل.</a:t>
            </a:r>
            <a:endParaRPr lang="en-US" sz="1750" dirty="0"/>
          </a:p>
        </p:txBody>
      </p:sp>
      <p:sp>
        <p:nvSpPr>
          <p:cNvPr id="15" name="Text 13"/>
          <p:cNvSpPr/>
          <p:nvPr/>
        </p:nvSpPr>
        <p:spPr>
          <a:xfrm>
            <a:off x="13609796" y="4990862"/>
            <a:ext cx="226814" cy="283488"/>
          </a:xfrm>
          <a:prstGeom prst="rect">
            <a:avLst/>
          </a:prstGeom>
          <a:noFill/>
          <a:ln/>
        </p:spPr>
        <p:txBody>
          <a:bodyPr wrap="none" lIns="0" tIns="0" rIns="0" bIns="0" rtlCol="0" anchor="t"/>
          <a:lstStyle/>
          <a:p>
            <a:pPr marL="0" indent="0" algn="l" rtl="1">
              <a:lnSpc>
                <a:spcPts val="2850"/>
              </a:lnSpc>
              <a:buNone/>
            </a:pPr>
            <a:r>
              <a:rPr lang="en-US" sz="1750" dirty="0">
                <a:solidFill>
                  <a:srgbClr val="272525"/>
                </a:solidFill>
                <a:latin typeface="Inter Light" pitchFamily="34" charset="0"/>
                <a:ea typeface="Inter Light" pitchFamily="34" charset="-122"/>
                <a:cs typeface="Inter Light" pitchFamily="34" charset="-120"/>
              </a:rPr>
              <a:t>04</a:t>
            </a:r>
            <a:endParaRPr lang="en-US" sz="1750" dirty="0"/>
          </a:p>
        </p:txBody>
      </p:sp>
      <p:sp>
        <p:nvSpPr>
          <p:cNvPr id="16" name="Shape 14"/>
          <p:cNvSpPr/>
          <p:nvPr/>
        </p:nvSpPr>
        <p:spPr>
          <a:xfrm>
            <a:off x="7428667" y="5345906"/>
            <a:ext cx="6407944" cy="30480"/>
          </a:xfrm>
          <a:prstGeom prst="rect">
            <a:avLst/>
          </a:prstGeom>
          <a:solidFill>
            <a:srgbClr val="4950BC"/>
          </a:solidFill>
          <a:ln/>
        </p:spPr>
      </p:sp>
      <p:sp>
        <p:nvSpPr>
          <p:cNvPr id="17" name="Text 15"/>
          <p:cNvSpPr/>
          <p:nvPr/>
        </p:nvSpPr>
        <p:spPr>
          <a:xfrm>
            <a:off x="11001375" y="5520214"/>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تحليل الفروقات المكانية</a:t>
            </a:r>
            <a:endParaRPr lang="en-US" sz="2200" dirty="0"/>
          </a:p>
        </p:txBody>
      </p:sp>
      <p:sp>
        <p:nvSpPr>
          <p:cNvPr id="18" name="Text 16"/>
          <p:cNvSpPr/>
          <p:nvPr/>
        </p:nvSpPr>
        <p:spPr>
          <a:xfrm>
            <a:off x="7428667" y="6010632"/>
            <a:ext cx="6407944" cy="362903"/>
          </a:xfrm>
          <a:prstGeom prst="rect">
            <a:avLst/>
          </a:prstGeom>
          <a:noFill/>
          <a:ln/>
        </p:spPr>
        <p:txBody>
          <a:bodyPr wrap="non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مقارنة خرائط الغطاء الأرضي لعامي 2015 و2025 لتحديد مناطق التغير.</a:t>
            </a:r>
            <a:endParaRPr lang="en-US" sz="1750" dirty="0"/>
          </a:p>
        </p:txBody>
      </p:sp>
      <p:sp>
        <p:nvSpPr>
          <p:cNvPr id="19" name="Text 17"/>
          <p:cNvSpPr/>
          <p:nvPr/>
        </p:nvSpPr>
        <p:spPr>
          <a:xfrm>
            <a:off x="6975038" y="4990862"/>
            <a:ext cx="226814" cy="283488"/>
          </a:xfrm>
          <a:prstGeom prst="rect">
            <a:avLst/>
          </a:prstGeom>
          <a:noFill/>
          <a:ln/>
        </p:spPr>
        <p:txBody>
          <a:bodyPr wrap="none" lIns="0" tIns="0" rIns="0" bIns="0" rtlCol="0" anchor="t"/>
          <a:lstStyle/>
          <a:p>
            <a:pPr marL="0" indent="0" algn="l" rtl="1">
              <a:lnSpc>
                <a:spcPts val="2850"/>
              </a:lnSpc>
              <a:buNone/>
            </a:pPr>
            <a:r>
              <a:rPr lang="en-US" sz="1750" dirty="0">
                <a:solidFill>
                  <a:srgbClr val="272525"/>
                </a:solidFill>
                <a:latin typeface="Inter Light" pitchFamily="34" charset="0"/>
                <a:ea typeface="Inter Light" pitchFamily="34" charset="-122"/>
                <a:cs typeface="Inter Light" pitchFamily="34" charset="-120"/>
              </a:rPr>
              <a:t>05</a:t>
            </a:r>
            <a:endParaRPr lang="en-US" sz="1750" dirty="0"/>
          </a:p>
        </p:txBody>
      </p:sp>
      <p:sp>
        <p:nvSpPr>
          <p:cNvPr id="20" name="Shape 18"/>
          <p:cNvSpPr/>
          <p:nvPr/>
        </p:nvSpPr>
        <p:spPr>
          <a:xfrm>
            <a:off x="793909" y="5345906"/>
            <a:ext cx="6407944" cy="30480"/>
          </a:xfrm>
          <a:prstGeom prst="rect">
            <a:avLst/>
          </a:prstGeom>
          <a:solidFill>
            <a:srgbClr val="4950BC"/>
          </a:solidFill>
          <a:ln/>
        </p:spPr>
      </p:sp>
      <p:sp>
        <p:nvSpPr>
          <p:cNvPr id="21" name="Text 19"/>
          <p:cNvSpPr/>
          <p:nvPr/>
        </p:nvSpPr>
        <p:spPr>
          <a:xfrm>
            <a:off x="4366617" y="5520214"/>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بناء لوحة تحكم تفاعلية</a:t>
            </a:r>
            <a:endParaRPr lang="en-US" sz="2200" dirty="0"/>
          </a:p>
        </p:txBody>
      </p:sp>
      <p:sp>
        <p:nvSpPr>
          <p:cNvPr id="22" name="Text 20"/>
          <p:cNvSpPr/>
          <p:nvPr/>
        </p:nvSpPr>
        <p:spPr>
          <a:xfrm>
            <a:off x="793909" y="6010632"/>
            <a:ext cx="6407944" cy="362903"/>
          </a:xfrm>
          <a:prstGeom prst="rect">
            <a:avLst/>
          </a:prstGeom>
          <a:noFill/>
          <a:ln/>
        </p:spPr>
        <p:txBody>
          <a:bodyPr wrap="non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تصميم وتطوير واجهة ويب لعرض النتائج والتحليلات بشكل ديناميكي.</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13" name="Picture 12" descr="logo.jpg"/>
          <p:cNvPicPr>
            <a:picLocks noChangeAspect="1"/>
          </p:cNvPicPr>
          <p:nvPr/>
        </p:nvPicPr>
        <p:blipFill>
          <a:blip r:embed="rId5"/>
          <a:stretch>
            <a:fillRect/>
          </a:stretch>
        </p:blipFill>
        <p:spPr>
          <a:xfrm>
            <a:off x="13533120" y="7132320"/>
            <a:ext cx="914400" cy="914400"/>
          </a:xfrm>
          <a:prstGeom prst="rect">
            <a:avLst/>
          </a:prstGeom>
        </p:spPr>
      </p:pic>
      <p:sp>
        <p:nvSpPr>
          <p:cNvPr id="2" name="Text 0"/>
          <p:cNvSpPr/>
          <p:nvPr/>
        </p:nvSpPr>
        <p:spPr>
          <a:xfrm>
            <a:off x="7481768" y="566976"/>
            <a:ext cx="6426994" cy="644366"/>
          </a:xfrm>
          <a:prstGeom prst="rect">
            <a:avLst/>
          </a:prstGeom>
          <a:noFill/>
          <a:ln/>
        </p:spPr>
        <p:txBody>
          <a:bodyPr wrap="none" lIns="0" tIns="0" rIns="0" bIns="0" rtlCol="0" anchor="t"/>
          <a:lstStyle/>
          <a:p>
            <a:pPr marL="0" indent="0" algn="r" rtl="1">
              <a:lnSpc>
                <a:spcPts val="5050"/>
              </a:lnSpc>
              <a:buNone/>
            </a:pPr>
            <a:r>
              <a:rPr lang="en-US" sz="4050" b="1" dirty="0">
                <a:solidFill>
                  <a:srgbClr val="000000"/>
                </a:solidFill>
                <a:latin typeface="Inter Bold" pitchFamily="34" charset="0"/>
                <a:ea typeface="Inter Bold" pitchFamily="34" charset="-122"/>
                <a:cs typeface="Inter Bold" pitchFamily="34" charset="-120"/>
              </a:rPr>
              <a:t>النتائج الرئيسية التي توصلنا إليها</a:t>
            </a:r>
            <a:endParaRPr lang="en-US" sz="4050" dirty="0"/>
          </a:p>
        </p:txBody>
      </p:sp>
      <p:sp>
        <p:nvSpPr>
          <p:cNvPr id="4" name="Text 1"/>
          <p:cNvSpPr/>
          <p:nvPr/>
        </p:nvSpPr>
        <p:spPr>
          <a:xfrm>
            <a:off x="7574280" y="1706047"/>
            <a:ext cx="6342102" cy="659844"/>
          </a:xfrm>
          <a:prstGeom prst="rect">
            <a:avLst/>
          </a:prstGeom>
          <a:noFill/>
          <a:ln/>
        </p:spPr>
        <p:txBody>
          <a:bodyPr wrap="square" lIns="0" tIns="0" rIns="0" bIns="0" rtlCol="0" anchor="t"/>
          <a:lstStyle/>
          <a:p>
            <a:pPr marL="0" indent="0" algn="r" rtl="1">
              <a:lnSpc>
                <a:spcPts val="2550"/>
              </a:lnSpc>
              <a:buNone/>
            </a:pPr>
            <a:r>
              <a:rPr lang="en-US" sz="1600" dirty="0">
                <a:solidFill>
                  <a:srgbClr val="272525"/>
                </a:solidFill>
                <a:latin typeface="Inter" pitchFamily="34" charset="0"/>
                <a:ea typeface="Inter" pitchFamily="34" charset="-122"/>
                <a:cs typeface="Inter" pitchFamily="34" charset="-120"/>
              </a:rPr>
              <a:t>كشفت التحليلات عن </a:t>
            </a:r>
            <a:r>
              <a:rPr lang="en-US" sz="1600" b="1" dirty="0">
                <a:solidFill>
                  <a:srgbClr val="272525"/>
                </a:solidFill>
                <a:latin typeface="Inter" pitchFamily="34" charset="0"/>
                <a:ea typeface="Inter" pitchFamily="34" charset="-122"/>
                <a:cs typeface="Inter" pitchFamily="34" charset="-120"/>
              </a:rPr>
              <a:t>زيادة ملحوظة في المساحات المبنية</a:t>
            </a:r>
            <a:r>
              <a:rPr lang="en-US" sz="1600" dirty="0">
                <a:solidFill>
                  <a:srgbClr val="272525"/>
                </a:solidFill>
                <a:latin typeface="Inter" pitchFamily="34" charset="0"/>
                <a:ea typeface="Inter" pitchFamily="34" charset="-122"/>
                <a:cs typeface="Inter" pitchFamily="34" charset="-120"/>
              </a:rPr>
              <a:t> خلال العقد الماضي، مما يشير إلى توسع عمراني كبير داخل منطقة الدراسة.</a:t>
            </a:r>
            <a:endParaRPr lang="en-US" sz="1600" dirty="0"/>
          </a:p>
        </p:txBody>
      </p:sp>
      <p:sp>
        <p:nvSpPr>
          <p:cNvPr id="5" name="Text 2"/>
          <p:cNvSpPr/>
          <p:nvPr/>
        </p:nvSpPr>
        <p:spPr>
          <a:xfrm>
            <a:off x="7574280" y="2551390"/>
            <a:ext cx="6342102" cy="989767"/>
          </a:xfrm>
          <a:prstGeom prst="rect">
            <a:avLst/>
          </a:prstGeom>
          <a:noFill/>
          <a:ln/>
        </p:spPr>
        <p:txBody>
          <a:bodyPr wrap="square" lIns="0" tIns="0" rIns="0" bIns="0" rtlCol="0" anchor="t"/>
          <a:lstStyle/>
          <a:p>
            <a:pPr marL="0" indent="0" algn="r" rtl="1">
              <a:lnSpc>
                <a:spcPts val="2550"/>
              </a:lnSpc>
              <a:buNone/>
            </a:pPr>
            <a:r>
              <a:rPr lang="en-US" sz="1600" dirty="0">
                <a:solidFill>
                  <a:srgbClr val="272525"/>
                </a:solidFill>
                <a:latin typeface="Inter" pitchFamily="34" charset="0"/>
                <a:ea typeface="Inter" pitchFamily="34" charset="-122"/>
                <a:cs typeface="Inter" pitchFamily="34" charset="-120"/>
              </a:rPr>
              <a:t>والمثير للقلق هو أن هذا التوسع جاء على حساب </a:t>
            </a:r>
            <a:r>
              <a:rPr lang="en-US" sz="1600" b="1" dirty="0">
                <a:solidFill>
                  <a:srgbClr val="272525"/>
                </a:solidFill>
                <a:latin typeface="Inter" pitchFamily="34" charset="0"/>
                <a:ea typeface="Inter" pitchFamily="34" charset="-122"/>
                <a:cs typeface="Inter" pitchFamily="34" charset="-120"/>
              </a:rPr>
              <a:t>اختفاء أجزاء كبيرة من بحيرة مريوط</a:t>
            </a:r>
            <a:r>
              <a:rPr lang="en-US" sz="1600" dirty="0">
                <a:solidFill>
                  <a:srgbClr val="272525"/>
                </a:solidFill>
                <a:latin typeface="Inter" pitchFamily="34" charset="0"/>
                <a:ea typeface="Inter" pitchFamily="34" charset="-122"/>
                <a:cs typeface="Inter" pitchFamily="34" charset="-120"/>
              </a:rPr>
              <a:t>، نتيجة لأعمال الردم المستمرة، مما يغير المعالم الطبيعية للمنطقة بشكل جذري.</a:t>
            </a:r>
            <a:endParaRPr lang="en-US" sz="1600" dirty="0"/>
          </a:p>
        </p:txBody>
      </p:sp>
      <p:sp>
        <p:nvSpPr>
          <p:cNvPr id="6" name="Text 3"/>
          <p:cNvSpPr/>
          <p:nvPr/>
        </p:nvSpPr>
        <p:spPr>
          <a:xfrm>
            <a:off x="7574280" y="3726656"/>
            <a:ext cx="6342102" cy="659844"/>
          </a:xfrm>
          <a:prstGeom prst="rect">
            <a:avLst/>
          </a:prstGeom>
          <a:noFill/>
          <a:ln/>
        </p:spPr>
        <p:txBody>
          <a:bodyPr wrap="square" lIns="0" tIns="0" rIns="0" bIns="0" rtlCol="0" anchor="t"/>
          <a:lstStyle/>
          <a:p>
            <a:pPr marL="0" indent="0" algn="r" rtl="1">
              <a:lnSpc>
                <a:spcPts val="2550"/>
              </a:lnSpc>
              <a:buNone/>
            </a:pPr>
            <a:r>
              <a:rPr lang="en-US" sz="1600" dirty="0">
                <a:solidFill>
                  <a:srgbClr val="272525"/>
                </a:solidFill>
                <a:latin typeface="Inter" pitchFamily="34" charset="0"/>
                <a:ea typeface="Inter" pitchFamily="34" charset="-122"/>
                <a:cs typeface="Inter" pitchFamily="34" charset="-120"/>
              </a:rPr>
              <a:t>تؤكد هذه النتائج على الحاجة الملحة للمراقبة المستمرة واتخاذ الإجراءات اللازمة للحفاظ على البيئة المائية.</a:t>
            </a:r>
            <a:endParaRPr lang="en-US" sz="1600" dirty="0"/>
          </a:p>
        </p:txBody>
      </p:sp>
      <p:pic>
        <p:nvPicPr>
          <p:cNvPr id="7" name="d1">
            <a:hlinkClick r:id="" action="ppaction://media"/>
            <a:extLst>
              <a:ext uri="{FF2B5EF4-FFF2-40B4-BE49-F238E27FC236}">
                <a16:creationId xmlns:a16="http://schemas.microsoft.com/office/drawing/2014/main" id="{A6544BF7-6859-0A06-7002-D9745712619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07950" y="883228"/>
            <a:ext cx="6426994" cy="64839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66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2" name="Picture 21" descr="logo.jpg"/>
          <p:cNvPicPr>
            <a:picLocks noChangeAspect="1"/>
          </p:cNvPicPr>
          <p:nvPr/>
        </p:nvPicPr>
        <p:blipFill>
          <a:blip r:embed="rId3"/>
          <a:stretch>
            <a:fillRect/>
          </a:stretch>
        </p:blipFill>
        <p:spPr>
          <a:xfrm>
            <a:off x="13533120" y="7132320"/>
            <a:ext cx="914400" cy="914400"/>
          </a:xfrm>
          <a:prstGeom prst="rect">
            <a:avLst/>
          </a:prstGeom>
        </p:spPr>
      </p:pic>
      <p:pic>
        <p:nvPicPr>
          <p:cNvPr id="2" name="Image 0" descr="preencoded.png"/>
          <p:cNvPicPr>
            <a:picLocks noChangeAspect="1"/>
          </p:cNvPicPr>
          <p:nvPr/>
        </p:nvPicPr>
        <p:blipFill>
          <a:blip r:embed="rId4"/>
          <a:stretch>
            <a:fillRect/>
          </a:stretch>
        </p:blipFill>
        <p:spPr>
          <a:xfrm>
            <a:off x="9144000" y="0"/>
            <a:ext cx="5486400" cy="8229600"/>
          </a:xfrm>
          <a:prstGeom prst="rect">
            <a:avLst/>
          </a:prstGeom>
        </p:spPr>
      </p:pic>
      <p:sp>
        <p:nvSpPr>
          <p:cNvPr id="3" name="Text 0"/>
          <p:cNvSpPr/>
          <p:nvPr/>
        </p:nvSpPr>
        <p:spPr>
          <a:xfrm>
            <a:off x="2679621" y="1096208"/>
            <a:ext cx="5670590" cy="708779"/>
          </a:xfrm>
          <a:prstGeom prst="rect">
            <a:avLst/>
          </a:prstGeom>
          <a:noFill/>
          <a:ln/>
        </p:spPr>
        <p:txBody>
          <a:bodyPr wrap="none" lIns="0" tIns="0" rIns="0" bIns="0" rtlCol="0" anchor="t"/>
          <a:lstStyle/>
          <a:p>
            <a:pPr marL="0" indent="0" algn="r" rtl="1">
              <a:lnSpc>
                <a:spcPts val="5550"/>
              </a:lnSpc>
              <a:buNone/>
            </a:pPr>
            <a:r>
              <a:rPr lang="en-US" sz="4450" b="1" dirty="0">
                <a:solidFill>
                  <a:srgbClr val="000000"/>
                </a:solidFill>
                <a:latin typeface="Inter Bold" pitchFamily="34" charset="0"/>
                <a:ea typeface="Inter Bold" pitchFamily="34" charset="-122"/>
                <a:cs typeface="Inter Bold" pitchFamily="34" charset="-120"/>
              </a:rPr>
              <a:t>التمثيل التفاعلي للبيانات</a:t>
            </a:r>
            <a:endParaRPr lang="en-US" sz="4450" dirty="0"/>
          </a:p>
        </p:txBody>
      </p:sp>
      <p:sp>
        <p:nvSpPr>
          <p:cNvPr id="4" name="Shape 1"/>
          <p:cNvSpPr/>
          <p:nvPr/>
        </p:nvSpPr>
        <p:spPr>
          <a:xfrm>
            <a:off x="4685467" y="2485311"/>
            <a:ext cx="3664744" cy="2403396"/>
          </a:xfrm>
          <a:prstGeom prst="roundRect">
            <a:avLst>
              <a:gd name="adj" fmla="val 6087"/>
            </a:avLst>
          </a:prstGeom>
          <a:solidFill>
            <a:srgbClr val="FFFFFF"/>
          </a:solidFill>
          <a:ln/>
        </p:spPr>
      </p:sp>
      <p:sp>
        <p:nvSpPr>
          <p:cNvPr id="5" name="Shape 2"/>
          <p:cNvSpPr/>
          <p:nvPr/>
        </p:nvSpPr>
        <p:spPr>
          <a:xfrm>
            <a:off x="4685467" y="2454831"/>
            <a:ext cx="3664744" cy="121920"/>
          </a:xfrm>
          <a:prstGeom prst="roundRect">
            <a:avLst>
              <a:gd name="adj" fmla="val 78139"/>
            </a:avLst>
          </a:prstGeom>
          <a:solidFill>
            <a:srgbClr val="4950BC"/>
          </a:solidFill>
          <a:ln/>
        </p:spPr>
      </p:sp>
      <p:sp>
        <p:nvSpPr>
          <p:cNvPr id="6" name="Shape 3"/>
          <p:cNvSpPr/>
          <p:nvPr/>
        </p:nvSpPr>
        <p:spPr>
          <a:xfrm>
            <a:off x="6177617" y="2145149"/>
            <a:ext cx="680442" cy="680442"/>
          </a:xfrm>
          <a:prstGeom prst="roundRect">
            <a:avLst>
              <a:gd name="adj" fmla="val 134383"/>
            </a:avLst>
          </a:prstGeom>
          <a:solidFill>
            <a:srgbClr val="4950BC"/>
          </a:solidFill>
          <a:ln/>
        </p:spPr>
      </p:sp>
      <p:sp>
        <p:nvSpPr>
          <p:cNvPr id="7" name="Text 4"/>
          <p:cNvSpPr/>
          <p:nvPr/>
        </p:nvSpPr>
        <p:spPr>
          <a:xfrm>
            <a:off x="6381810" y="2315289"/>
            <a:ext cx="272177" cy="340162"/>
          </a:xfrm>
          <a:prstGeom prst="rect">
            <a:avLst/>
          </a:prstGeom>
          <a:noFill/>
          <a:ln/>
        </p:spPr>
        <p:txBody>
          <a:bodyPr wrap="none" lIns="0" tIns="0" rIns="0" bIns="0" rtlCol="0" anchor="t"/>
          <a:lstStyle/>
          <a:p>
            <a:pPr marL="0" indent="0" algn="r" rtl="1">
              <a:lnSpc>
                <a:spcPts val="3400"/>
              </a:lnSpc>
              <a:buNone/>
            </a:pPr>
            <a:r>
              <a:rPr lang="en-US" sz="2100" b="1" dirty="0">
                <a:solidFill>
                  <a:srgbClr val="FFFFFF"/>
                </a:solidFill>
                <a:latin typeface="Inter Bold" pitchFamily="34" charset="0"/>
                <a:ea typeface="Inter Bold" pitchFamily="34" charset="-122"/>
                <a:cs typeface="Inter Bold" pitchFamily="34" charset="-120"/>
              </a:rPr>
              <a:t>1</a:t>
            </a:r>
            <a:endParaRPr lang="en-US" sz="2100" dirty="0"/>
          </a:p>
        </p:txBody>
      </p:sp>
      <p:sp>
        <p:nvSpPr>
          <p:cNvPr id="8" name="Text 5"/>
          <p:cNvSpPr/>
          <p:nvPr/>
        </p:nvSpPr>
        <p:spPr>
          <a:xfrm>
            <a:off x="5257681" y="3052286"/>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خريطة ويب تفاعلية</a:t>
            </a:r>
            <a:endParaRPr lang="en-US" sz="2200" dirty="0"/>
          </a:p>
        </p:txBody>
      </p:sp>
      <p:sp>
        <p:nvSpPr>
          <p:cNvPr id="9" name="Text 6"/>
          <p:cNvSpPr/>
          <p:nvPr/>
        </p:nvSpPr>
        <p:spPr>
          <a:xfrm>
            <a:off x="4942761" y="3542705"/>
            <a:ext cx="3150156" cy="1088708"/>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تمكن المستخدمين من استكشاف التغيرات العمرانية على الخريطة بسهولة.</a:t>
            </a:r>
            <a:endParaRPr lang="en-US" sz="1750" dirty="0"/>
          </a:p>
        </p:txBody>
      </p:sp>
      <p:sp>
        <p:nvSpPr>
          <p:cNvPr id="10" name="Shape 7"/>
          <p:cNvSpPr/>
          <p:nvPr/>
        </p:nvSpPr>
        <p:spPr>
          <a:xfrm>
            <a:off x="793790" y="2485311"/>
            <a:ext cx="3664863" cy="2403396"/>
          </a:xfrm>
          <a:prstGeom prst="roundRect">
            <a:avLst>
              <a:gd name="adj" fmla="val 6087"/>
            </a:avLst>
          </a:prstGeom>
          <a:solidFill>
            <a:srgbClr val="FFFFFF"/>
          </a:solidFill>
          <a:ln/>
        </p:spPr>
      </p:sp>
      <p:sp>
        <p:nvSpPr>
          <p:cNvPr id="11" name="Shape 8"/>
          <p:cNvSpPr/>
          <p:nvPr/>
        </p:nvSpPr>
        <p:spPr>
          <a:xfrm>
            <a:off x="793790" y="2454831"/>
            <a:ext cx="3664863" cy="121920"/>
          </a:xfrm>
          <a:prstGeom prst="roundRect">
            <a:avLst>
              <a:gd name="adj" fmla="val 78139"/>
            </a:avLst>
          </a:prstGeom>
          <a:solidFill>
            <a:srgbClr val="4950BC"/>
          </a:solidFill>
          <a:ln/>
        </p:spPr>
      </p:sp>
      <p:sp>
        <p:nvSpPr>
          <p:cNvPr id="12" name="Shape 9"/>
          <p:cNvSpPr/>
          <p:nvPr/>
        </p:nvSpPr>
        <p:spPr>
          <a:xfrm>
            <a:off x="2285940" y="2145149"/>
            <a:ext cx="680442" cy="680442"/>
          </a:xfrm>
          <a:prstGeom prst="roundRect">
            <a:avLst>
              <a:gd name="adj" fmla="val 134383"/>
            </a:avLst>
          </a:prstGeom>
          <a:solidFill>
            <a:srgbClr val="4950BC"/>
          </a:solidFill>
          <a:ln/>
        </p:spPr>
      </p:sp>
      <p:sp>
        <p:nvSpPr>
          <p:cNvPr id="13" name="Text 10"/>
          <p:cNvSpPr/>
          <p:nvPr/>
        </p:nvSpPr>
        <p:spPr>
          <a:xfrm>
            <a:off x="2490133" y="2315289"/>
            <a:ext cx="272177" cy="340162"/>
          </a:xfrm>
          <a:prstGeom prst="rect">
            <a:avLst/>
          </a:prstGeom>
          <a:noFill/>
          <a:ln/>
        </p:spPr>
        <p:txBody>
          <a:bodyPr wrap="none" lIns="0" tIns="0" rIns="0" bIns="0" rtlCol="0" anchor="t"/>
          <a:lstStyle/>
          <a:p>
            <a:pPr marL="0" indent="0" algn="r" rtl="1">
              <a:lnSpc>
                <a:spcPts val="3400"/>
              </a:lnSpc>
              <a:buNone/>
            </a:pPr>
            <a:r>
              <a:rPr lang="en-US" sz="2100" b="1" dirty="0">
                <a:solidFill>
                  <a:srgbClr val="FFFFFF"/>
                </a:solidFill>
                <a:latin typeface="Inter Bold" pitchFamily="34" charset="0"/>
                <a:ea typeface="Inter Bold" pitchFamily="34" charset="-122"/>
                <a:cs typeface="Inter Bold" pitchFamily="34" charset="-120"/>
              </a:rPr>
              <a:t>2</a:t>
            </a:r>
            <a:endParaRPr lang="en-US" sz="2100" dirty="0"/>
          </a:p>
        </p:txBody>
      </p:sp>
      <p:sp>
        <p:nvSpPr>
          <p:cNvPr id="14" name="Text 11"/>
          <p:cNvSpPr/>
          <p:nvPr/>
        </p:nvSpPr>
        <p:spPr>
          <a:xfrm>
            <a:off x="1366123" y="3052286"/>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لوحة تحكم لكل منطقة</a:t>
            </a:r>
            <a:endParaRPr lang="en-US" sz="2200" dirty="0"/>
          </a:p>
        </p:txBody>
      </p:sp>
      <p:sp>
        <p:nvSpPr>
          <p:cNvPr id="15" name="Text 12"/>
          <p:cNvSpPr/>
          <p:nvPr/>
        </p:nvSpPr>
        <p:spPr>
          <a:xfrm>
            <a:off x="1051084" y="3542705"/>
            <a:ext cx="3150275" cy="1088708"/>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توفر لوحة تحكم مخصصة لكل "Zone" رؤى إحصائية وبيانية مفصلة.</a:t>
            </a:r>
            <a:endParaRPr lang="en-US" sz="1750" dirty="0"/>
          </a:p>
        </p:txBody>
      </p:sp>
      <p:sp>
        <p:nvSpPr>
          <p:cNvPr id="16" name="Shape 13"/>
          <p:cNvSpPr/>
          <p:nvPr/>
        </p:nvSpPr>
        <p:spPr>
          <a:xfrm>
            <a:off x="793790" y="5455682"/>
            <a:ext cx="7556421" cy="1677591"/>
          </a:xfrm>
          <a:prstGeom prst="roundRect">
            <a:avLst>
              <a:gd name="adj" fmla="val 8721"/>
            </a:avLst>
          </a:prstGeom>
          <a:solidFill>
            <a:srgbClr val="FFFFFF"/>
          </a:solidFill>
          <a:ln/>
        </p:spPr>
      </p:sp>
      <p:sp>
        <p:nvSpPr>
          <p:cNvPr id="17" name="Shape 14"/>
          <p:cNvSpPr/>
          <p:nvPr/>
        </p:nvSpPr>
        <p:spPr>
          <a:xfrm>
            <a:off x="793790" y="5425202"/>
            <a:ext cx="7556421" cy="121920"/>
          </a:xfrm>
          <a:prstGeom prst="roundRect">
            <a:avLst>
              <a:gd name="adj" fmla="val 78139"/>
            </a:avLst>
          </a:prstGeom>
          <a:solidFill>
            <a:srgbClr val="4950BC"/>
          </a:solidFill>
          <a:ln/>
        </p:spPr>
      </p:sp>
      <p:sp>
        <p:nvSpPr>
          <p:cNvPr id="18" name="Shape 15"/>
          <p:cNvSpPr/>
          <p:nvPr/>
        </p:nvSpPr>
        <p:spPr>
          <a:xfrm>
            <a:off x="4231779" y="5115520"/>
            <a:ext cx="680442" cy="680442"/>
          </a:xfrm>
          <a:prstGeom prst="roundRect">
            <a:avLst>
              <a:gd name="adj" fmla="val 134383"/>
            </a:avLst>
          </a:prstGeom>
          <a:solidFill>
            <a:srgbClr val="4950BC"/>
          </a:solidFill>
          <a:ln/>
        </p:spPr>
      </p:sp>
      <p:sp>
        <p:nvSpPr>
          <p:cNvPr id="19" name="Text 16"/>
          <p:cNvSpPr/>
          <p:nvPr/>
        </p:nvSpPr>
        <p:spPr>
          <a:xfrm>
            <a:off x="4435971" y="5285661"/>
            <a:ext cx="272177" cy="340162"/>
          </a:xfrm>
          <a:prstGeom prst="rect">
            <a:avLst/>
          </a:prstGeom>
          <a:noFill/>
          <a:ln/>
        </p:spPr>
        <p:txBody>
          <a:bodyPr wrap="none" lIns="0" tIns="0" rIns="0" bIns="0" rtlCol="0" anchor="t"/>
          <a:lstStyle/>
          <a:p>
            <a:pPr marL="0" indent="0" algn="r" rtl="1">
              <a:lnSpc>
                <a:spcPts val="3400"/>
              </a:lnSpc>
              <a:buNone/>
            </a:pPr>
            <a:r>
              <a:rPr lang="en-US" sz="2100" b="1" dirty="0">
                <a:solidFill>
                  <a:srgbClr val="FFFFFF"/>
                </a:solidFill>
                <a:latin typeface="Inter Bold" pitchFamily="34" charset="0"/>
                <a:ea typeface="Inter Bold" pitchFamily="34" charset="-122"/>
                <a:cs typeface="Inter Bold" pitchFamily="34" charset="-120"/>
              </a:rPr>
              <a:t>3</a:t>
            </a:r>
            <a:endParaRPr lang="en-US" sz="2100" dirty="0"/>
          </a:p>
        </p:txBody>
      </p:sp>
      <p:sp>
        <p:nvSpPr>
          <p:cNvPr id="20" name="Text 17"/>
          <p:cNvSpPr/>
          <p:nvPr/>
        </p:nvSpPr>
        <p:spPr>
          <a:xfrm>
            <a:off x="5257681" y="6022658"/>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رسوم بيانية للمقارنة</a:t>
            </a:r>
            <a:endParaRPr lang="en-US" sz="2200" dirty="0"/>
          </a:p>
        </p:txBody>
      </p:sp>
      <p:sp>
        <p:nvSpPr>
          <p:cNvPr id="21" name="Text 18"/>
          <p:cNvSpPr/>
          <p:nvPr/>
        </p:nvSpPr>
        <p:spPr>
          <a:xfrm>
            <a:off x="1051084" y="6513076"/>
            <a:ext cx="7041832" cy="362903"/>
          </a:xfrm>
          <a:prstGeom prst="rect">
            <a:avLst/>
          </a:prstGeom>
          <a:noFill/>
          <a:ln/>
        </p:spPr>
        <p:txBody>
          <a:bodyPr wrap="non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تعرض رسومًا بيانية لمقارنة مساحات الغطاء الأرضي بين عامي 2015 و2025.</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7" name="Picture 6" descr="logo.jpg"/>
          <p:cNvPicPr>
            <a:picLocks noChangeAspect="1"/>
          </p:cNvPicPr>
          <p:nvPr/>
        </p:nvPicPr>
        <p:blipFill>
          <a:blip r:embed="rId3"/>
          <a:stretch>
            <a:fillRect/>
          </a:stretch>
        </p:blipFill>
        <p:spPr>
          <a:xfrm>
            <a:off x="13533120" y="7132320"/>
            <a:ext cx="914400" cy="914400"/>
          </a:xfrm>
          <a:prstGeom prst="rect">
            <a:avLst/>
          </a:prstGeom>
        </p:spPr>
      </p:pic>
      <p:sp>
        <p:nvSpPr>
          <p:cNvPr id="2" name="Text 0"/>
          <p:cNvSpPr/>
          <p:nvPr/>
        </p:nvSpPr>
        <p:spPr>
          <a:xfrm>
            <a:off x="8166021" y="1826895"/>
            <a:ext cx="5670590" cy="708779"/>
          </a:xfrm>
          <a:prstGeom prst="rect">
            <a:avLst/>
          </a:prstGeom>
          <a:noFill/>
          <a:ln/>
        </p:spPr>
        <p:txBody>
          <a:bodyPr wrap="none" lIns="0" tIns="0" rIns="0" bIns="0" rtlCol="0" anchor="t"/>
          <a:lstStyle/>
          <a:p>
            <a:pPr marL="0" indent="0" algn="r" rtl="1">
              <a:lnSpc>
                <a:spcPts val="5550"/>
              </a:lnSpc>
              <a:buNone/>
            </a:pPr>
            <a:r>
              <a:rPr lang="en-US" sz="4450" b="1" dirty="0">
                <a:solidFill>
                  <a:srgbClr val="000000"/>
                </a:solidFill>
                <a:latin typeface="Inter Bold" pitchFamily="34" charset="0"/>
                <a:ea typeface="Inter Bold" pitchFamily="34" charset="-122"/>
                <a:cs typeface="Inter Bold" pitchFamily="34" charset="-120"/>
              </a:rPr>
              <a:t>الاستنتاجات والتأملات</a:t>
            </a:r>
            <a:endParaRPr lang="en-US" sz="4450" dirty="0"/>
          </a:p>
        </p:txBody>
      </p:sp>
      <p:sp>
        <p:nvSpPr>
          <p:cNvPr id="3" name="Text 1"/>
          <p:cNvSpPr/>
          <p:nvPr/>
        </p:nvSpPr>
        <p:spPr>
          <a:xfrm>
            <a:off x="1133951" y="3329464"/>
            <a:ext cx="12702659" cy="1133951"/>
          </a:xfrm>
          <a:prstGeom prst="rect">
            <a:avLst/>
          </a:prstGeom>
          <a:noFill/>
          <a:ln/>
        </p:spPr>
        <p:txBody>
          <a:bodyPr wrap="square" lIns="0" tIns="0" rIns="0" bIns="0" rtlCol="0" anchor="t"/>
          <a:lstStyle/>
          <a:p>
            <a:pPr algn="ctr" rtl="1">
              <a:lnSpc>
                <a:spcPts val="4450"/>
              </a:lnSpc>
            </a:pPr>
            <a:r>
              <a:rPr lang="en-US" sz="3550" b="1" dirty="0">
                <a:solidFill>
                  <a:srgbClr val="000000"/>
                </a:solidFill>
                <a:latin typeface="Inter Bold" pitchFamily="34" charset="0"/>
                <a:ea typeface="Inter Bold" pitchFamily="34" charset="-122"/>
                <a:cs typeface="Inter Bold" pitchFamily="34" charset="-120"/>
              </a:rPr>
              <a:t>"أعمال الردم غيرت معالم منطقة </a:t>
            </a:r>
            <a:r>
              <a:rPr lang="en-US" sz="3550" b="1" dirty="0" err="1">
                <a:solidFill>
                  <a:srgbClr val="000000"/>
                </a:solidFill>
                <a:latin typeface="Inter Bold" pitchFamily="34" charset="0"/>
                <a:ea typeface="Inter Bold" pitchFamily="34" charset="-122"/>
                <a:cs typeface="Inter Bold" pitchFamily="34" charset="-120"/>
              </a:rPr>
              <a:t>محرم</a:t>
            </a:r>
            <a:r>
              <a:rPr lang="en-US" sz="3550" b="1" dirty="0">
                <a:solidFill>
                  <a:srgbClr val="000000"/>
                </a:solidFill>
                <a:latin typeface="Inter Bold" pitchFamily="34" charset="0"/>
                <a:ea typeface="Inter Bold" pitchFamily="34" charset="-122"/>
                <a:cs typeface="Inter Bold" pitchFamily="34" charset="-120"/>
              </a:rPr>
              <a:t> </a:t>
            </a:r>
            <a:r>
              <a:rPr lang="en-US" sz="3550" b="1" dirty="0" err="1">
                <a:solidFill>
                  <a:srgbClr val="000000"/>
                </a:solidFill>
                <a:latin typeface="Inter Bold" pitchFamily="34" charset="0"/>
                <a:ea typeface="Inter Bold" pitchFamily="34" charset="-122"/>
                <a:cs typeface="Inter Bold" pitchFamily="34" charset="-120"/>
              </a:rPr>
              <a:t>وبحيرمريوط</a:t>
            </a:r>
            <a:r>
              <a:rPr lang="en-US" sz="3550" b="1" dirty="0">
                <a:solidFill>
                  <a:srgbClr val="000000"/>
                </a:solidFill>
                <a:latin typeface="Inter Bold" pitchFamily="34" charset="0"/>
                <a:ea typeface="Inter Bold" pitchFamily="34" charset="-122"/>
                <a:cs typeface="Inter Bold" pitchFamily="34" charset="-120"/>
              </a:rPr>
              <a:t> بشكل جذري، مؤكدة على ضرورة التتبع </a:t>
            </a:r>
            <a:r>
              <a:rPr lang="en-US" sz="3550" b="1" dirty="0" err="1">
                <a:solidFill>
                  <a:srgbClr val="000000"/>
                </a:solidFill>
                <a:latin typeface="Inter Bold" pitchFamily="34" charset="0"/>
                <a:ea typeface="Inter Bold" pitchFamily="34" charset="-122"/>
                <a:cs typeface="Inter Bold" pitchFamily="34" charset="-120"/>
              </a:rPr>
              <a:t>المستمر</a:t>
            </a:r>
            <a:r>
              <a:rPr lang="en-US" sz="3550" b="1" dirty="0">
                <a:solidFill>
                  <a:srgbClr val="000000"/>
                </a:solidFill>
                <a:latin typeface="Inter Bold" pitchFamily="34" charset="0"/>
                <a:ea typeface="Inter Bold" pitchFamily="34" charset="-122"/>
                <a:cs typeface="Inter Bold" pitchFamily="34" charset="-120"/>
              </a:rPr>
              <a:t> </a:t>
            </a:r>
            <a:r>
              <a:rPr lang="en-US" sz="3550" b="1" dirty="0" err="1">
                <a:solidFill>
                  <a:srgbClr val="000000"/>
                </a:solidFill>
                <a:latin typeface="Inter Bold" pitchFamily="34" charset="0"/>
                <a:ea typeface="Inter Bold" pitchFamily="34" charset="-122"/>
                <a:cs typeface="Inter Bold" pitchFamily="34" charset="-120"/>
              </a:rPr>
              <a:t>للتغيرة</a:t>
            </a:r>
            <a:r>
              <a:rPr lang="en-US" sz="3550" b="1" dirty="0">
                <a:solidFill>
                  <a:srgbClr val="000000"/>
                </a:solidFill>
                <a:latin typeface="Inter Bold" pitchFamily="34" charset="0"/>
                <a:ea typeface="Inter Bold" pitchFamily="34" charset="-122"/>
                <a:cs typeface="Inter Bold" pitchFamily="34" charset="-120"/>
              </a:rPr>
              <a:t>  العمراني."</a:t>
            </a:r>
            <a:endParaRPr lang="en-US" sz="3550" dirty="0"/>
          </a:p>
        </p:txBody>
      </p:sp>
      <p:sp>
        <p:nvSpPr>
          <p:cNvPr id="4" name="Shape 2"/>
          <p:cNvSpPr/>
          <p:nvPr/>
        </p:nvSpPr>
        <p:spPr>
          <a:xfrm>
            <a:off x="793790" y="2989302"/>
            <a:ext cx="30480" cy="1814274"/>
          </a:xfrm>
          <a:prstGeom prst="rect">
            <a:avLst/>
          </a:prstGeom>
          <a:solidFill>
            <a:srgbClr val="4950BC"/>
          </a:solidFill>
          <a:ln/>
        </p:spPr>
      </p:sp>
      <p:sp>
        <p:nvSpPr>
          <p:cNvPr id="5" name="Text 3"/>
          <p:cNvSpPr/>
          <p:nvPr/>
        </p:nvSpPr>
        <p:spPr>
          <a:xfrm>
            <a:off x="793790" y="5058728"/>
            <a:ext cx="13042821"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يبرز هذا المشروع الأهمية القصوى لاستخدام الأدوات الحديثة مثل نظم المعلومات الجغرافية في رصد التغيرات البيئية والعمرانية. إن فهم هذه التغيرات هو الخطوة الأولى نحو التخطيط الحضري المستدام والحفاظ على الموارد الطبيعية.</a:t>
            </a:r>
            <a:endParaRPr lang="en-US" sz="1750" dirty="0"/>
          </a:p>
        </p:txBody>
      </p:sp>
      <p:sp>
        <p:nvSpPr>
          <p:cNvPr id="6" name="Text 4"/>
          <p:cNvSpPr/>
          <p:nvPr/>
        </p:nvSpPr>
        <p:spPr>
          <a:xfrm>
            <a:off x="793790" y="6039683"/>
            <a:ext cx="13042821" cy="362903"/>
          </a:xfrm>
          <a:prstGeom prst="rect">
            <a:avLst/>
          </a:prstGeom>
          <a:noFill/>
          <a:ln/>
        </p:spPr>
        <p:txBody>
          <a:bodyPr wrap="non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نتائجنا تقدم دليلاً ملموسًا على التأثير البشري على البيئة، وتدعونا للتفكير في مستقبل التنمية المستدامة في المناطق الحضرية.</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19" name="Picture 18" descr="logo.jpg"/>
          <p:cNvPicPr>
            <a:picLocks noChangeAspect="1"/>
          </p:cNvPicPr>
          <p:nvPr/>
        </p:nvPicPr>
        <p:blipFill>
          <a:blip r:embed="rId3"/>
          <a:stretch>
            <a:fillRect/>
          </a:stretch>
        </p:blipFill>
        <p:spPr>
          <a:xfrm>
            <a:off x="13533120" y="7132320"/>
            <a:ext cx="914400" cy="914400"/>
          </a:xfrm>
          <a:prstGeom prst="rect">
            <a:avLst/>
          </a:prstGeom>
        </p:spPr>
      </p:pic>
      <p:sp>
        <p:nvSpPr>
          <p:cNvPr id="2" name="Text 0"/>
          <p:cNvSpPr/>
          <p:nvPr/>
        </p:nvSpPr>
        <p:spPr>
          <a:xfrm>
            <a:off x="7755374" y="1709142"/>
            <a:ext cx="6081236" cy="708779"/>
          </a:xfrm>
          <a:prstGeom prst="rect">
            <a:avLst/>
          </a:prstGeom>
          <a:noFill/>
          <a:ln/>
        </p:spPr>
        <p:txBody>
          <a:bodyPr wrap="none" lIns="0" tIns="0" rIns="0" bIns="0" rtlCol="0" anchor="t"/>
          <a:lstStyle/>
          <a:p>
            <a:pPr marL="0" indent="0" algn="r" rtl="1">
              <a:lnSpc>
                <a:spcPts val="5550"/>
              </a:lnSpc>
              <a:buNone/>
            </a:pPr>
            <a:r>
              <a:rPr lang="en-US" sz="4450" b="1" dirty="0">
                <a:solidFill>
                  <a:srgbClr val="000000"/>
                </a:solidFill>
                <a:latin typeface="Inter Bold" pitchFamily="34" charset="0"/>
                <a:ea typeface="Inter Bold" pitchFamily="34" charset="-122"/>
                <a:cs typeface="Inter Bold" pitchFamily="34" charset="-120"/>
              </a:rPr>
              <a:t>توصيات لمشاريع مستقبلية</a:t>
            </a:r>
            <a:endParaRPr lang="en-US" sz="4450" dirty="0"/>
          </a:p>
        </p:txBody>
      </p:sp>
      <p:sp>
        <p:nvSpPr>
          <p:cNvPr id="3" name="Shape 1"/>
          <p:cNvSpPr/>
          <p:nvPr/>
        </p:nvSpPr>
        <p:spPr>
          <a:xfrm>
            <a:off x="9602510" y="3778806"/>
            <a:ext cx="3893939" cy="226814"/>
          </a:xfrm>
          <a:prstGeom prst="roundRect">
            <a:avLst>
              <a:gd name="adj" fmla="val 42003"/>
            </a:avLst>
          </a:prstGeom>
          <a:solidFill>
            <a:srgbClr val="DADBF1"/>
          </a:solidFill>
          <a:ln w="7620">
            <a:solidFill>
              <a:srgbClr val="C0C1D7"/>
            </a:solidFill>
            <a:prstDash val="solid"/>
          </a:ln>
        </p:spPr>
      </p:sp>
      <p:sp>
        <p:nvSpPr>
          <p:cNvPr id="4" name="Shape 2"/>
          <p:cNvSpPr/>
          <p:nvPr/>
        </p:nvSpPr>
        <p:spPr>
          <a:xfrm>
            <a:off x="13156168" y="3551932"/>
            <a:ext cx="680442" cy="680442"/>
          </a:xfrm>
          <a:prstGeom prst="roundRect">
            <a:avLst>
              <a:gd name="adj" fmla="val 67192"/>
            </a:avLst>
          </a:prstGeom>
          <a:solidFill>
            <a:srgbClr val="DADBF1"/>
          </a:solidFill>
          <a:ln w="7620">
            <a:solidFill>
              <a:srgbClr val="C0C1D7"/>
            </a:solidFill>
            <a:prstDash val="solid"/>
          </a:ln>
        </p:spPr>
      </p:sp>
      <p:pic>
        <p:nvPicPr>
          <p:cNvPr id="5" name="Image 0" descr="preencoded.png"/>
          <p:cNvPicPr>
            <a:picLocks noChangeAspect="1"/>
          </p:cNvPicPr>
          <p:nvPr/>
        </p:nvPicPr>
        <p:blipFill>
          <a:blip r:embed="rId4"/>
          <a:stretch>
            <a:fillRect/>
          </a:stretch>
        </p:blipFill>
        <p:spPr>
          <a:xfrm>
            <a:off x="13326308" y="3679567"/>
            <a:ext cx="340162" cy="425291"/>
          </a:xfrm>
          <a:prstGeom prst="rect">
            <a:avLst/>
          </a:prstGeom>
        </p:spPr>
      </p:pic>
      <p:sp>
        <p:nvSpPr>
          <p:cNvPr id="6" name="Text 3"/>
          <p:cNvSpPr/>
          <p:nvPr/>
        </p:nvSpPr>
        <p:spPr>
          <a:xfrm>
            <a:off x="10130195" y="4459248"/>
            <a:ext cx="3479602"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استخدام صور أحدث وبدقة أعلى</a:t>
            </a:r>
            <a:endParaRPr lang="en-US" sz="2200" dirty="0"/>
          </a:p>
        </p:txBody>
      </p:sp>
      <p:sp>
        <p:nvSpPr>
          <p:cNvPr id="7" name="Text 4"/>
          <p:cNvSpPr/>
          <p:nvPr/>
        </p:nvSpPr>
        <p:spPr>
          <a:xfrm>
            <a:off x="9829205" y="4949666"/>
            <a:ext cx="3780592"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لتعزيز دقة التحليل وتوفير تفاصيل أكثر عن التغيرات.</a:t>
            </a:r>
            <a:endParaRPr lang="en-US" sz="1750" dirty="0"/>
          </a:p>
        </p:txBody>
      </p:sp>
      <p:sp>
        <p:nvSpPr>
          <p:cNvPr id="8" name="Shape 5"/>
          <p:cNvSpPr/>
          <p:nvPr/>
        </p:nvSpPr>
        <p:spPr>
          <a:xfrm>
            <a:off x="5198269" y="3438525"/>
            <a:ext cx="3893939" cy="226814"/>
          </a:xfrm>
          <a:prstGeom prst="roundRect">
            <a:avLst>
              <a:gd name="adj" fmla="val 42003"/>
            </a:avLst>
          </a:prstGeom>
          <a:solidFill>
            <a:srgbClr val="DADBF1"/>
          </a:solidFill>
          <a:ln w="7620">
            <a:solidFill>
              <a:srgbClr val="C0C1D7"/>
            </a:solidFill>
            <a:prstDash val="solid"/>
          </a:ln>
        </p:spPr>
      </p:sp>
      <p:sp>
        <p:nvSpPr>
          <p:cNvPr id="9" name="Shape 6"/>
          <p:cNvSpPr/>
          <p:nvPr/>
        </p:nvSpPr>
        <p:spPr>
          <a:xfrm>
            <a:off x="8751927" y="3211651"/>
            <a:ext cx="680442" cy="680442"/>
          </a:xfrm>
          <a:prstGeom prst="roundRect">
            <a:avLst>
              <a:gd name="adj" fmla="val 67192"/>
            </a:avLst>
          </a:prstGeom>
          <a:solidFill>
            <a:srgbClr val="DADBF1"/>
          </a:solidFill>
          <a:ln w="7620">
            <a:solidFill>
              <a:srgbClr val="C0C1D7"/>
            </a:solidFill>
            <a:prstDash val="solid"/>
          </a:ln>
        </p:spPr>
      </p:sp>
      <p:pic>
        <p:nvPicPr>
          <p:cNvPr id="10" name="Image 1" descr="preencoded.png"/>
          <p:cNvPicPr>
            <a:picLocks noChangeAspect="1"/>
          </p:cNvPicPr>
          <p:nvPr/>
        </p:nvPicPr>
        <p:blipFill>
          <a:blip r:embed="rId5"/>
          <a:stretch>
            <a:fillRect/>
          </a:stretch>
        </p:blipFill>
        <p:spPr>
          <a:xfrm>
            <a:off x="8922068" y="3339286"/>
            <a:ext cx="340162" cy="425291"/>
          </a:xfrm>
          <a:prstGeom prst="rect">
            <a:avLst/>
          </a:prstGeom>
        </p:spPr>
      </p:pic>
      <p:sp>
        <p:nvSpPr>
          <p:cNvPr id="11" name="Text 7"/>
          <p:cNvSpPr/>
          <p:nvPr/>
        </p:nvSpPr>
        <p:spPr>
          <a:xfrm>
            <a:off x="5503188" y="4118967"/>
            <a:ext cx="3702368"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تطبيق المنهجية على مناطق أخرى</a:t>
            </a:r>
            <a:endParaRPr lang="en-US" sz="2200" dirty="0"/>
          </a:p>
        </p:txBody>
      </p:sp>
      <p:sp>
        <p:nvSpPr>
          <p:cNvPr id="12" name="Text 8"/>
          <p:cNvSpPr/>
          <p:nvPr/>
        </p:nvSpPr>
        <p:spPr>
          <a:xfrm>
            <a:off x="5424964" y="4609386"/>
            <a:ext cx="3780592" cy="725805"/>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لتعميم الفائدة وتحديد الأنماط المشتركة للتوسع العمراني.</a:t>
            </a:r>
            <a:endParaRPr lang="en-US" sz="1750" dirty="0"/>
          </a:p>
        </p:txBody>
      </p:sp>
      <p:sp>
        <p:nvSpPr>
          <p:cNvPr id="13" name="Shape 9"/>
          <p:cNvSpPr/>
          <p:nvPr/>
        </p:nvSpPr>
        <p:spPr>
          <a:xfrm>
            <a:off x="794028" y="3098363"/>
            <a:ext cx="3893939" cy="226814"/>
          </a:xfrm>
          <a:prstGeom prst="roundRect">
            <a:avLst>
              <a:gd name="adj" fmla="val 42003"/>
            </a:avLst>
          </a:prstGeom>
          <a:solidFill>
            <a:srgbClr val="DADBF1"/>
          </a:solidFill>
          <a:ln w="7620">
            <a:solidFill>
              <a:srgbClr val="C0C1D7"/>
            </a:solidFill>
            <a:prstDash val="solid"/>
          </a:ln>
        </p:spPr>
      </p:sp>
      <p:sp>
        <p:nvSpPr>
          <p:cNvPr id="14" name="Shape 10"/>
          <p:cNvSpPr/>
          <p:nvPr/>
        </p:nvSpPr>
        <p:spPr>
          <a:xfrm>
            <a:off x="4347686" y="2871490"/>
            <a:ext cx="680442" cy="680442"/>
          </a:xfrm>
          <a:prstGeom prst="roundRect">
            <a:avLst>
              <a:gd name="adj" fmla="val 67192"/>
            </a:avLst>
          </a:prstGeom>
          <a:solidFill>
            <a:srgbClr val="DADBF1"/>
          </a:solidFill>
          <a:ln w="7620">
            <a:solidFill>
              <a:srgbClr val="C0C1D7"/>
            </a:solidFill>
            <a:prstDash val="solid"/>
          </a:ln>
        </p:spPr>
      </p:sp>
      <p:pic>
        <p:nvPicPr>
          <p:cNvPr id="15" name="Image 2" descr="preencoded.png"/>
          <p:cNvPicPr>
            <a:picLocks noChangeAspect="1"/>
          </p:cNvPicPr>
          <p:nvPr/>
        </p:nvPicPr>
        <p:blipFill>
          <a:blip r:embed="rId6"/>
          <a:stretch>
            <a:fillRect/>
          </a:stretch>
        </p:blipFill>
        <p:spPr>
          <a:xfrm>
            <a:off x="4517827" y="2999125"/>
            <a:ext cx="340162" cy="425291"/>
          </a:xfrm>
          <a:prstGeom prst="rect">
            <a:avLst/>
          </a:prstGeom>
        </p:spPr>
      </p:pic>
      <p:sp>
        <p:nvSpPr>
          <p:cNvPr id="16" name="Text 11"/>
          <p:cNvSpPr/>
          <p:nvPr/>
        </p:nvSpPr>
        <p:spPr>
          <a:xfrm>
            <a:off x="1966079" y="3778806"/>
            <a:ext cx="2835235" cy="354330"/>
          </a:xfrm>
          <a:prstGeom prst="rect">
            <a:avLst/>
          </a:prstGeom>
          <a:noFill/>
          <a:ln/>
        </p:spPr>
        <p:txBody>
          <a:bodyPr wrap="none" lIns="0" tIns="0" rIns="0" bIns="0" rtlCol="0" anchor="t"/>
          <a:lstStyle/>
          <a:p>
            <a:pPr marL="0" indent="0" algn="r" rtl="1">
              <a:lnSpc>
                <a:spcPts val="2750"/>
              </a:lnSpc>
              <a:buNone/>
            </a:pPr>
            <a:r>
              <a:rPr lang="en-US" sz="2200" b="1" dirty="0">
                <a:solidFill>
                  <a:srgbClr val="272525"/>
                </a:solidFill>
                <a:latin typeface="Inter Bold" pitchFamily="34" charset="0"/>
                <a:ea typeface="Inter Bold" pitchFamily="34" charset="-122"/>
                <a:cs typeface="Inter Bold" pitchFamily="34" charset="-120"/>
              </a:rPr>
              <a:t>إضافة بيانات بيئية</a:t>
            </a:r>
            <a:endParaRPr lang="en-US" sz="2200" dirty="0"/>
          </a:p>
        </p:txBody>
      </p:sp>
      <p:sp>
        <p:nvSpPr>
          <p:cNvPr id="17" name="Text 12"/>
          <p:cNvSpPr/>
          <p:nvPr/>
        </p:nvSpPr>
        <p:spPr>
          <a:xfrm>
            <a:off x="1020723" y="4269224"/>
            <a:ext cx="3780592" cy="1088708"/>
          </a:xfrm>
          <a:prstGeom prst="rect">
            <a:avLst/>
          </a:prstGeom>
          <a:noFill/>
          <a:ln/>
        </p:spPr>
        <p:txBody>
          <a:bodyPr wrap="square" lIns="0" tIns="0" rIns="0" bIns="0" rtlCol="0" anchor="t"/>
          <a:lstStyle/>
          <a:p>
            <a:pPr marL="0" indent="0" algn="r" rtl="1">
              <a:lnSpc>
                <a:spcPts val="2850"/>
              </a:lnSpc>
              <a:buNone/>
            </a:pPr>
            <a:r>
              <a:rPr lang="en-US" sz="1750" dirty="0">
                <a:solidFill>
                  <a:srgbClr val="272525"/>
                </a:solidFill>
                <a:latin typeface="Inter" pitchFamily="34" charset="0"/>
                <a:ea typeface="Inter" pitchFamily="34" charset="-122"/>
                <a:cs typeface="Inter" pitchFamily="34" charset="-120"/>
              </a:rPr>
              <a:t>لتحليل التأثيرات البيئية الأوسع للتغير العمراني، مثل جودة المياه أو التنوع البيولوجي.</a:t>
            </a:r>
            <a:endParaRPr lang="en-US" sz="1750" dirty="0"/>
          </a:p>
        </p:txBody>
      </p:sp>
      <p:sp>
        <p:nvSpPr>
          <p:cNvPr id="18" name="Text 13"/>
          <p:cNvSpPr/>
          <p:nvPr/>
        </p:nvSpPr>
        <p:spPr>
          <a:xfrm>
            <a:off x="793790" y="6157436"/>
            <a:ext cx="13042821" cy="362903"/>
          </a:xfrm>
          <a:prstGeom prst="rect">
            <a:avLst/>
          </a:prstGeom>
          <a:noFill/>
          <a:ln/>
        </p:spPr>
        <p:txBody>
          <a:bodyPr wrap="none" lIns="0" tIns="0" rIns="0" bIns="0" rtlCol="0" anchor="t"/>
          <a:lstStyle/>
          <a:p>
            <a:pPr marL="0" indent="0" algn="ctr" rtl="1">
              <a:lnSpc>
                <a:spcPts val="2850"/>
              </a:lnSpc>
              <a:buNone/>
            </a:pPr>
            <a:r>
              <a:rPr lang="en-US" sz="1750" dirty="0">
                <a:solidFill>
                  <a:srgbClr val="272525"/>
                </a:solidFill>
                <a:latin typeface="Inter" pitchFamily="34" charset="0"/>
                <a:ea typeface="Inter" pitchFamily="34" charset="-122"/>
                <a:cs typeface="Inter" pitchFamily="34" charset="-120"/>
              </a:rPr>
              <a:t>نشكركم على اهتمامكم، ونتطلع إلى إسهامات مستقبلية في مجال نظم المعلومات الجغرافية والتخطيط الحضري.</a:t>
            </a:r>
            <a:endParaRPr lang="en-US" sz="175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25</TotalTime>
  <Words>648</Words>
  <Application>Microsoft Office PowerPoint</Application>
  <PresentationFormat>Custom</PresentationFormat>
  <Paragraphs>94</Paragraphs>
  <Slides>10</Slides>
  <Notes>10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Inter</vt:lpstr>
      <vt:lpstr>Inter Bold</vt:lpstr>
      <vt:lpstr>Inter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Abdelrhman Ayman</dc:creator>
  <cp:lastModifiedBy>Abdelrhman Ayman</cp:lastModifiedBy>
  <cp:revision>7</cp:revision>
  <dcterms:created xsi:type="dcterms:W3CDTF">2025-08-06T20:41:23Z</dcterms:created>
  <dcterms:modified xsi:type="dcterms:W3CDTF">2025-08-08T07:42:20Z</dcterms:modified>
  <cp:contentStatus/>
</cp:coreProperties>
</file>